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07" r:id="rId3"/>
    <p:sldId id="301" r:id="rId4"/>
    <p:sldId id="258" r:id="rId5"/>
    <p:sldId id="291" r:id="rId6"/>
    <p:sldId id="292" r:id="rId7"/>
    <p:sldId id="408" r:id="rId8"/>
    <p:sldId id="409" r:id="rId9"/>
    <p:sldId id="410" r:id="rId10"/>
    <p:sldId id="411" r:id="rId11"/>
    <p:sldId id="412" r:id="rId12"/>
    <p:sldId id="413" r:id="rId13"/>
    <p:sldId id="266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  <p:sldId id="428" r:id="rId29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62"/>
    <a:srgbClr val="FF0066"/>
    <a:srgbClr val="CC0066"/>
    <a:srgbClr val="CC00CC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17" autoAdjust="0"/>
  </p:normalViewPr>
  <p:slideViewPr>
    <p:cSldViewPr>
      <p:cViewPr varScale="1">
        <p:scale>
          <a:sx n="74" d="100"/>
          <a:sy n="74" d="100"/>
        </p:scale>
        <p:origin x="72" y="19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705" y="1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DBEB568F-061D-4ED6-9E54-80F4814613A5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0515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705" y="9720515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8A5570E-44EE-4A9D-8D84-476555EF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7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3-29T06:53:06.5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22154 8678 0,'18'18'203,"0"-18"-188,-1 0 1,1 0-16,35 0 16,-18 0-16,53 0 15,-35 0-15,-17 0 16,16 0-16,37 0 15,-1 0 1,247-18 15,-106-35 16,-123 36-16,-53 17-31,18-18 16,-36 18-16,18 0 16,17-18-1,-34 18 1,52-35 0,-35 18-1,35-1 1,-35 18-1,-18 0-15,0 0 16,71-18 0,-70 18-1,16 0-15,1 0 16,-35 0 0,53 0-16,-36 0 31,53 0-16,36 0 1,-19 0 0,-34 0-1,35 0 1,0 0 0,17 0-1,1 0 1,-54 0-16,-17 0 15,0 0-15,-35 0 16,17 0-16,35 0 16,36 0-1,18 0 1,-1 0 0,-17 0 15,-35 0-16,-36 0 1,35 0 0,1 0-1,17 0 1,-53 0 0,-17 0-16,88 0 15,-53 0 1,35 0-16,71 18 15,-18 17 1,-35-35 0,0 0-1,-18 0 1,-18 0 0,36 0 15,-71 0-31,18 0 15,-17 0-15,-1 0 0,0 0 16,53 0 0,1 18-1,16-18 1,-34 0 0,-1 0-1,-17 0 1,0 0-1,0 17 1,35-17 0,-52 0-1,17 36 1,-18-36 0,35 0 15,-52 0-31,0 0 15,17 0-15,0 0 16,18 0 0,35 0-1,-70 0 1,17 0 0,-17 0-1,88 0 1,35 0-1,-35 0 1,-89 0 0,19 0 31,-19 0-32,1 17 1,17-17 140,-17 0-140,-1 0-16,-34 0 172,-18 18-157,-1-18-15,1 18 31,17-1-31,1 1 16,-1 0 0,-70-1-1,53 19 1,-1-36 0,-17 17 15,36-17-16,-1 0 1,-35 18-16,0 17 16,36-35-16,-19 18 15,-34-1 1,17 36 0,35-53-1,-52 0 1,-18 18-1,-18 17 1,53-35 0,0 0-1,18 0 1,-18 18 0,-18-18 15,-35 17-16,89-17 1,-72 18 0,37-18-1,-1 0 1,35 0 0,0 0-1,-17 0 1,0 0-1,-1 0 1,1 0 0,0 0 31,17 0-16,1 0-16,-19 0 1,1 0 0,-35 0-1,52 0 1,-53-18 0,18 18-1,-17-17 1,17-1-1,35 18-15,-35-17 16,18-1 0,-18 18-1,0 0-15,-17-18 16,-18 18 0,17 0 15,0 0-16,1 0 1,-1 0 0,-17 0-1,0 0 1,35 0-16,0 0 16,-35 0-1,35 0-15,-53 0 16,36 0-1,-54 0 1,1 0 0,52 0-1,-35 0 1,0 0 0,-17 18 15,-89 35-16,89-53 1,-18 35 0,70-35-16,1 18 15,-36-18-15,35 17 16,-70 1 0,18-18-1,17 0 1,-35 53-1,17-53 1,36 18 0,17-1-1,19-17 1,-1 0 0,-18 0-1,53 0 1,-17 0-1,18 0-15,-19 0 0,1 0 16,-18 0 0,0 0-1,0 0 1,0 0 0,-35 0-1,35 0 1,-17-35-1,-19 35 1,-52-18 0,35 1-1,1 17 1,16-36 0,37 36-1,16-17-15,1 17 16,-36 0-1,54-18 1,-1 18 0,-17-53-1,17 36 1,1 17 0,-1 0-1,18-18 126,0-17-126,18 35 17,-1-18-32,19 0 15,-1 18 1,18 0 0,53 0-1,-1 0 1,-34-17-16,35 17 15,-53 0 1,0 0-16,35 0 16,53 0-1,18 0 1,-54 0 0,1 0-1,53-71 16,-53 54-15,-18-19 0,-17 36-16,-36 0 15,18-17-15,-18 17 16,36-36 0,-36 36-1,36-17 1,-54-1-1,1 18 1,-1 0 0,1 0 15,0 0-15,-1 0-1,1 0 1,17 0-1,-17 0 1,35 0 0,-36 0-1,1 0 1,17 0 0,1 0-1,17 0 1,17 0-1,18 0 1,-17-18 0,-1 1-1,-34 17 1,34 0 0,54 0-1,-71 0 1,-18 0 15,0 0-15,0 0-1,1 0 1,17 0 0,0 0-1,17 0 1,18 0-1,18 0 1,-53 0 0,-35 0-16,70 0 15,-70 0 1,34 0-16,-16 0 16,-1 0 15,53 0-31,18 17 31,-18-17-15,18 18-1,18-18 1,-19 0 0,89 0-1,-88 0 1,35 0-1,-35 0 1,0 0 0,18 0-1,-19 0 1,-34 0 0,35-18-1,0 1 16,-36 17-15,-35 0 0,-17 0-16,0 0 15,-1 0-15,1 0 16,17 0 0,36 0-1,-18 0 1,0-36-1,17 19 1,-35 17 0,-17 0-1,0 0 1,17 0 0,-17 0 15,-1 0 0,19 0 47,-1 0-62,-18 0-16,19 0 15,-19 17 220,-17 1-220,0 0 1,-17-1 0,-1-17-16,-17 36 15,35-19 1,0 1 78,-35 17-16,35-17-63,0 0-15,-36 17 16,19-18-16,-1 1 16,18 0 62,-18-18-63,1 0 17,-1 0-17,0 0 1,-17 17 0,0 1-16,0-18 15,-54 0 1,54 0-1,-71 35 1,53-35 0,0 18-1,-35-18 1,-35 18 0,-54-1-1,1 18 1,88-35 15,53 0-31,-18 0 16,35 0-16,-35 0 15,-17 0 1,-36 0 0,18 0-1,17 0 1,-17 0-1,17 0 1,-17 0 0,17 0-1,-34 0 1,69 0-16,1 0 16,17 0-16,-52 0 15,17 0-15,-53 0 16,18 0 15,0 0-15,17 0-1,1 0 1,-19 0 0,54 0-1,-35 0 1,-1 0-1,-35 0 1,-53 0 0,107 0-1,-19 0 1,36 0 0,-53 18-1,35-18 1,35 0 15,-70 0-15,17 0-1,-17 0 1,53 0 0,-1 0-1,-16 0 1,-1 0-16,17 0 15,-17 0-15,18 0 16,18 0-16,-19 0 16,-17 0-1,18 0 1,0 0 0,-18 0-1,18 0 1,17 0 15,0 0-15,-17 0-1,17 0 1,1 0 0,34 0 155,1 0-171,17 0 16,1 0-16,16 0 16,1-18-1,18 18 1,0-17 0,-1 17-1,71-18 1,0-17-1,0 17 1,-35 18 0,0 0-1,-71 0 1,1 0 0,-19-17 15,1 17 0,0 0-15,-1-18 31,1 18-32,-1 0 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705" y="1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A971D1F-562C-4CD0-986E-738FD3EF09C9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10"/>
            <a:ext cx="5679440" cy="402987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0515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705" y="9720515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41570C2-4EA3-45EF-9D7A-27EB10B0F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8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570C2-4EA3-45EF-9D7A-27EB10B0F7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7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9509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570C2-4EA3-45EF-9D7A-27EB10B0F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6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570C2-4EA3-45EF-9D7A-27EB10B0F7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99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6941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3799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216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185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2549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2498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344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388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570C2-4EA3-45EF-9D7A-27EB10B0F7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93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7338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7758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0506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5812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3155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00458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83231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3230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5842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9717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03496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890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51520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60737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279525"/>
            <a:ext cx="6137275" cy="345281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483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E910A-17C5-4879-BEF7-ABF786312681}" type="datetime1">
              <a:rPr lang="en-US" smtClean="0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13F3F-DA3A-467D-8620-7ECBFF2B5B76}" type="datetime1">
              <a:rPr lang="en-US" smtClean="0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B26E1-9E62-4AC8-B7C7-F87ACE8DD6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A89D-EF77-4FE0-9787-453511222DAE}" type="datetime1">
              <a:rPr lang="en-US" smtClean="0"/>
              <a:t>6/2/2023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A40A6-EE2E-4E48-BD41-0FC6956CAF8A}" type="datetime1">
              <a:rPr lang="en-US" smtClean="0"/>
              <a:t>6/2/2023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52E5D-6FF2-41FD-BFDD-C2B39FB30E04}" type="datetime1">
              <a:rPr lang="en-US" smtClean="0"/>
              <a:t>6/2/2023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33" name="Picture 6" descr="https://i2.wp.com/www.flagstaffchamber.com/wp-content/uploads/2015/04/FYP-Logo-Final-Transparent.png?ssl=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1" y="1981200"/>
            <a:ext cx="7342332" cy="273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2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55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2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2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80433-5366-48BE-AA8E-5BC862E1C020}" type="datetime1">
              <a:rPr lang="en-US" smtClean="0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2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1752600"/>
            <a:ext cx="4419600" cy="2819400"/>
          </a:xfrm>
          <a:custGeom>
            <a:avLst/>
            <a:gdLst/>
            <a:ahLst/>
            <a:cxnLst/>
            <a:rect l="l" t="t" r="r" b="b"/>
            <a:pathLst>
              <a:path w="4114800" h="2819400">
                <a:moveTo>
                  <a:pt x="4114800" y="0"/>
                </a:moveTo>
                <a:lnTo>
                  <a:pt x="0" y="0"/>
                </a:lnTo>
                <a:lnTo>
                  <a:pt x="0" y="2819400"/>
                </a:lnTo>
                <a:lnTo>
                  <a:pt x="4114800" y="2819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C4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 idx="4294967295"/>
          </p:nvPr>
        </p:nvSpPr>
        <p:spPr>
          <a:xfrm>
            <a:off x="152400" y="2507492"/>
            <a:ext cx="41148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rtl="0">
              <a:spcBef>
                <a:spcPts val="105"/>
              </a:spcBef>
            </a:pPr>
            <a:r>
              <a:rPr lang="en-GB" sz="3200" kern="1200" spc="5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ITT632</a:t>
            </a:r>
            <a:br>
              <a:rPr lang="en-GB" sz="3200" kern="1200" spc="5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</a:br>
            <a:r>
              <a:rPr lang="en-GB" sz="3200" kern="1200" spc="5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MOBILE CLOUD COMPUTING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33400" y="4647686"/>
            <a:ext cx="3374071" cy="3475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9120">
              <a:lnSpc>
                <a:spcPct val="120300"/>
              </a:lnSpc>
              <a:spcBef>
                <a:spcPts val="95"/>
              </a:spcBef>
            </a:pPr>
            <a:r>
              <a:rPr lang="en-GB" sz="2000" spc="-15" dirty="0" err="1" smtClean="0">
                <a:solidFill>
                  <a:srgbClr val="919194"/>
                </a:solidFill>
                <a:latin typeface="Arial"/>
                <a:cs typeface="Arial"/>
              </a:rPr>
              <a:t>Dr.</a:t>
            </a:r>
            <a:r>
              <a:rPr lang="en-GB" sz="2000" spc="-15" dirty="0" smtClean="0">
                <a:solidFill>
                  <a:srgbClr val="919194"/>
                </a:solidFill>
                <a:latin typeface="Arial"/>
                <a:cs typeface="Arial"/>
              </a:rPr>
              <a:t> </a:t>
            </a:r>
            <a:r>
              <a:rPr lang="en-GB" sz="2000" spc="-15" dirty="0" err="1" smtClean="0">
                <a:solidFill>
                  <a:srgbClr val="919194"/>
                </a:solidFill>
                <a:latin typeface="Arial"/>
                <a:cs typeface="Arial"/>
              </a:rPr>
              <a:t>Mohd</a:t>
            </a:r>
            <a:r>
              <a:rPr lang="en-GB" sz="2000" spc="-15" dirty="0" smtClean="0">
                <a:solidFill>
                  <a:srgbClr val="919194"/>
                </a:solidFill>
                <a:latin typeface="Arial"/>
                <a:cs typeface="Arial"/>
              </a:rPr>
              <a:t> </a:t>
            </a:r>
            <a:r>
              <a:rPr lang="en-GB" sz="2000" spc="-15" dirty="0">
                <a:solidFill>
                  <a:srgbClr val="919194"/>
                </a:solidFill>
                <a:latin typeface="Arial"/>
                <a:cs typeface="Arial"/>
              </a:rPr>
              <a:t>Faisal Ibrahim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9" name="Picture 4" descr="The One Side Project per Year Challenge | by Samantha Zhang | Mission.org |  Mediu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52600"/>
            <a:ext cx="77724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52FB26E1-9E62-4AC8-B7C7-F87ACE8DD696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4"/>
          <p:cNvSpPr>
            <a:spLocks noChangeArrowheads="1"/>
          </p:cNvSpPr>
          <p:nvPr/>
        </p:nvSpPr>
        <p:spPr bwMode="gray">
          <a:xfrm>
            <a:off x="381000" y="1704643"/>
            <a:ext cx="11430000" cy="436175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>
                  <a:gamma/>
                  <a:tint val="47451"/>
                  <a:invGamma/>
                </a:srgbClr>
              </a:gs>
              <a:gs pos="50000">
                <a:srgbClr val="DDDDDD"/>
              </a:gs>
              <a:gs pos="100000">
                <a:srgbClr val="DDDDDD">
                  <a:gamma/>
                  <a:tint val="47451"/>
                  <a:invGamma/>
                </a:srgbClr>
              </a:gs>
            </a:gsLst>
            <a:lin ang="5400000" scaled="1"/>
          </a:gradFill>
          <a:ln w="12700" algn="ctr">
            <a:solidFill>
              <a:srgbClr val="DDDDDD"/>
            </a:solidFill>
            <a:round/>
            <a:headEnd/>
            <a:tailEnd/>
          </a:ln>
          <a:effectLst>
            <a:outerShdw dist="50800" dir="5400000" algn="ctr" rotWithShape="0">
              <a:srgbClr val="969696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gray">
          <a:xfrm>
            <a:off x="422508" y="1792229"/>
            <a:ext cx="11351353" cy="4169071"/>
          </a:xfrm>
          <a:prstGeom prst="roundRect">
            <a:avLst>
              <a:gd name="adj" fmla="val 14810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54118"/>
                  <a:invGamma/>
                </a:srgbClr>
              </a:gs>
              <a:gs pos="100000">
                <a:srgbClr val="DDDDDD"/>
              </a:gs>
            </a:gsLst>
            <a:lin ang="5400000" scaled="1"/>
          </a:gradFill>
          <a:ln w="19050" algn="ctr">
            <a:solidFill>
              <a:srgbClr val="DDDDDD">
                <a:alpha val="20000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object 3"/>
          <p:cNvSpPr/>
          <p:nvPr/>
        </p:nvSpPr>
        <p:spPr>
          <a:xfrm>
            <a:off x="1066799" y="944370"/>
            <a:ext cx="8148504" cy="1733728"/>
          </a:xfrm>
          <a:custGeom>
            <a:avLst/>
            <a:gdLst/>
            <a:ahLst/>
            <a:cxnLst/>
            <a:rect l="l" t="t" r="r" b="b"/>
            <a:pathLst>
              <a:path w="4114800" h="3581400">
                <a:moveTo>
                  <a:pt x="4114800" y="0"/>
                </a:moveTo>
                <a:lnTo>
                  <a:pt x="0" y="0"/>
                </a:lnTo>
                <a:lnTo>
                  <a:pt x="0" y="3581400"/>
                </a:lnTo>
                <a:lnTo>
                  <a:pt x="4114800" y="3581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C4122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"/>
          <p:cNvSpPr/>
          <p:nvPr/>
        </p:nvSpPr>
        <p:spPr>
          <a:xfrm>
            <a:off x="9252442" y="944370"/>
            <a:ext cx="1796557" cy="1733728"/>
          </a:xfrm>
          <a:custGeom>
            <a:avLst/>
            <a:gdLst/>
            <a:ahLst/>
            <a:cxnLst/>
            <a:rect l="l" t="t" r="r" b="b"/>
            <a:pathLst>
              <a:path w="4114800" h="3581400">
                <a:moveTo>
                  <a:pt x="4114800" y="0"/>
                </a:moveTo>
                <a:lnTo>
                  <a:pt x="0" y="0"/>
                </a:lnTo>
                <a:lnTo>
                  <a:pt x="0" y="3581400"/>
                </a:lnTo>
                <a:lnTo>
                  <a:pt x="4114800" y="3581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00486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0" y="1172970"/>
            <a:ext cx="19088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spc="5" dirty="0" smtClean="0">
                <a:solidFill>
                  <a:schemeClr val="bg1"/>
                </a:solidFill>
                <a:latin typeface="Arial"/>
                <a:cs typeface="Arial"/>
              </a:rPr>
              <a:t>Chapter 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18" name="object 20"/>
          <p:cNvSpPr txBox="1">
            <a:spLocks noGrp="1"/>
          </p:cNvSpPr>
          <p:nvPr>
            <p:ph type="title" idx="4294967295"/>
          </p:nvPr>
        </p:nvSpPr>
        <p:spPr>
          <a:xfrm>
            <a:off x="1600200" y="1447800"/>
            <a:ext cx="7086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 rtl="0">
              <a:spcBef>
                <a:spcPts val="105"/>
              </a:spcBef>
            </a:pPr>
            <a:r>
              <a:rPr lang="en-GB" sz="3200" kern="1200" spc="5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Mobile Cloud Computing Taxonomy</a:t>
            </a:r>
          </a:p>
        </p:txBody>
      </p:sp>
    </p:spTree>
    <p:extLst>
      <p:ext uri="{BB962C8B-B14F-4D97-AF65-F5344CB8AC3E}">
        <p14:creationId xmlns:p14="http://schemas.microsoft.com/office/powerpoint/2010/main" val="249787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4"/>
          <p:cNvSpPr>
            <a:spLocks noChangeArrowheads="1"/>
          </p:cNvSpPr>
          <p:nvPr/>
        </p:nvSpPr>
        <p:spPr bwMode="gray">
          <a:xfrm>
            <a:off x="2514600" y="4038600"/>
            <a:ext cx="8121650" cy="50323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gray">
          <a:xfrm>
            <a:off x="2514600" y="3198814"/>
            <a:ext cx="8121650" cy="503237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76C7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Group 7"/>
          <p:cNvGrpSpPr>
            <a:grpSpLocks/>
          </p:cNvGrpSpPr>
          <p:nvPr/>
        </p:nvGrpSpPr>
        <p:grpSpPr bwMode="auto">
          <a:xfrm>
            <a:off x="2482850" y="3181350"/>
            <a:ext cx="523875" cy="527050"/>
            <a:chOff x="720" y="1488"/>
            <a:chExt cx="806" cy="808"/>
          </a:xfrm>
        </p:grpSpPr>
        <p:sp>
          <p:nvSpPr>
            <p:cNvPr id="31" name="Oval 8"/>
            <p:cNvSpPr>
              <a:spLocks noChangeArrowheads="1"/>
            </p:cNvSpPr>
            <p:nvPr/>
          </p:nvSpPr>
          <p:spPr bwMode="gray">
            <a:xfrm>
              <a:off x="720" y="1490"/>
              <a:ext cx="806" cy="806"/>
            </a:xfrm>
            <a:prstGeom prst="ellipse">
              <a:avLst/>
            </a:prstGeom>
            <a:solidFill>
              <a:srgbClr val="76C73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2" name="Picture 9" descr="dro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721" y="1488"/>
              <a:ext cx="800" cy="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 Box 10"/>
          <p:cNvSpPr txBox="1">
            <a:spLocks noChangeArrowheads="1"/>
          </p:cNvSpPr>
          <p:nvPr/>
        </p:nvSpPr>
        <p:spPr bwMode="black">
          <a:xfrm>
            <a:off x="2528888" y="3149600"/>
            <a:ext cx="327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b="1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34" name="Group 11"/>
          <p:cNvGrpSpPr>
            <a:grpSpLocks/>
          </p:cNvGrpSpPr>
          <p:nvPr/>
        </p:nvGrpSpPr>
        <p:grpSpPr bwMode="auto">
          <a:xfrm>
            <a:off x="2482850" y="4021138"/>
            <a:ext cx="523875" cy="527050"/>
            <a:chOff x="1188" y="1705"/>
            <a:chExt cx="330" cy="332"/>
          </a:xfrm>
        </p:grpSpPr>
        <p:sp>
          <p:nvSpPr>
            <p:cNvPr id="35" name="Oval 12"/>
            <p:cNvSpPr>
              <a:spLocks noChangeArrowheads="1"/>
            </p:cNvSpPr>
            <p:nvPr/>
          </p:nvSpPr>
          <p:spPr bwMode="gray">
            <a:xfrm>
              <a:off x="1188" y="1706"/>
              <a:ext cx="330" cy="331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6" name="Picture 13" descr="dro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1190" y="1705"/>
              <a:ext cx="328" cy="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Text Box 14"/>
          <p:cNvSpPr txBox="1">
            <a:spLocks noChangeArrowheads="1"/>
          </p:cNvSpPr>
          <p:nvPr/>
        </p:nvSpPr>
        <p:spPr bwMode="black">
          <a:xfrm>
            <a:off x="2533650" y="3989389"/>
            <a:ext cx="346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b="1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gray">
          <a:xfrm>
            <a:off x="3221620" y="3219450"/>
            <a:ext cx="69933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92929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</a:rPr>
              <a:t>Overview of Cloud Computing</a:t>
            </a: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gray">
          <a:xfrm>
            <a:off x="3221620" y="4059238"/>
            <a:ext cx="699336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92929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</a:rPr>
              <a:t>Mobile Cloud Solutions</a:t>
            </a:r>
          </a:p>
        </p:txBody>
      </p:sp>
      <p:sp>
        <p:nvSpPr>
          <p:cNvPr id="52" name="object 19"/>
          <p:cNvSpPr/>
          <p:nvPr/>
        </p:nvSpPr>
        <p:spPr>
          <a:xfrm>
            <a:off x="0" y="378688"/>
            <a:ext cx="4419600" cy="650302"/>
          </a:xfrm>
          <a:custGeom>
            <a:avLst/>
            <a:gdLst/>
            <a:ahLst/>
            <a:cxnLst/>
            <a:rect l="l" t="t" r="r" b="b"/>
            <a:pathLst>
              <a:path w="4114800" h="2819400">
                <a:moveTo>
                  <a:pt x="4114800" y="0"/>
                </a:moveTo>
                <a:lnTo>
                  <a:pt x="0" y="0"/>
                </a:lnTo>
                <a:lnTo>
                  <a:pt x="0" y="2819400"/>
                </a:lnTo>
                <a:lnTo>
                  <a:pt x="4114800" y="2819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C4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/>
          <p:cNvSpPr txBox="1">
            <a:spLocks/>
          </p:cNvSpPr>
          <p:nvPr/>
        </p:nvSpPr>
        <p:spPr>
          <a:xfrm>
            <a:off x="152400" y="454887"/>
            <a:ext cx="4114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0">
              <a:spcBef>
                <a:spcPts val="105"/>
              </a:spcBef>
            </a:pPr>
            <a:r>
              <a:rPr lang="en-GB" sz="3200" kern="1200" spc="5" dirty="0" smtClean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Topic Covered</a:t>
            </a:r>
            <a:endParaRPr lang="en-GB" sz="3200" kern="1200" spc="5" dirty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pic>
        <p:nvPicPr>
          <p:cNvPr id="1028" name="Picture 4" descr="What is Computer Network Defense (CND)? | BitLyft Cybersecurit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83817"/>
            <a:ext cx="2819400" cy="64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Network Architecture? Duties of a Computer Archite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81633"/>
            <a:ext cx="2550530" cy="64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ecoming A Network Administrator - Tech Business New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530" y="378688"/>
            <a:ext cx="2402470" cy="65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52FB26E1-9E62-4AC8-B7C7-F87ACE8DD6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43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www.esds.co.in/blog/wp-content/uploads/2016/04/mobile-cloud-comput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0"/>
            <a:ext cx="8077200" cy="358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/>
          <p:nvPr/>
        </p:nvSpPr>
        <p:spPr>
          <a:xfrm>
            <a:off x="0" y="2"/>
            <a:ext cx="4114800" cy="3581400"/>
          </a:xfrm>
          <a:custGeom>
            <a:avLst/>
            <a:gdLst/>
            <a:ahLst/>
            <a:cxnLst/>
            <a:rect l="l" t="t" r="r" b="b"/>
            <a:pathLst>
              <a:path w="4114800" h="3581400">
                <a:moveTo>
                  <a:pt x="4114800" y="0"/>
                </a:moveTo>
                <a:lnTo>
                  <a:pt x="0" y="0"/>
                </a:lnTo>
                <a:lnTo>
                  <a:pt x="0" y="3581400"/>
                </a:lnTo>
                <a:lnTo>
                  <a:pt x="4114800" y="3581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0048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143000"/>
            <a:ext cx="37338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GB" sz="3200" spc="5" dirty="0">
                <a:solidFill>
                  <a:srgbClr val="FFFFFF"/>
                </a:solidFill>
                <a:latin typeface="Arial"/>
                <a:cs typeface="Arial"/>
              </a:rPr>
              <a:t>Overview of Cloud Computing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1"/>
            <a:ext cx="10515600" cy="5635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n-US" kern="0" dirty="0">
                <a:solidFill>
                  <a:sysClr val="windowText" lastClr="000000"/>
                </a:solidFill>
              </a:rPr>
              <a:t>What is </a:t>
            </a:r>
            <a:r>
              <a:rPr lang="en-US" kern="0" dirty="0" smtClean="0">
                <a:solidFill>
                  <a:sysClr val="windowText" lastClr="000000"/>
                </a:solidFill>
              </a:rPr>
              <a:t>Cloud Computing (CC)?</a:t>
            </a:r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203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Cloud computing is a model for enabling ubiquitous, convenient, on-demand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network access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to a shared pool of configurable computing resources (e.g., networks, servers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, storage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, applications, and services) that can be rapidly provisioned and released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with minimal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management effort or service provider interaction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. </a:t>
            </a:r>
            <a:endParaRPr lang="en-GB" altLang="en-US" sz="2800" dirty="0">
              <a:solidFill>
                <a:srgbClr val="1C4372"/>
              </a:solidFill>
              <a:latin typeface="Verdana"/>
            </a:endParaRP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A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project follows a hierarchy of assumptions and objectives: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buSzPct val="90000"/>
            </a:pPr>
            <a:r>
              <a:rPr lang="en-GB" altLang="en-US" dirty="0">
                <a:solidFill>
                  <a:srgbClr val="000000"/>
                </a:solidFill>
                <a:latin typeface="Verdana"/>
              </a:rPr>
              <a:t>Inputs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buSzPct val="90000"/>
            </a:pPr>
            <a:r>
              <a:rPr lang="en-GB" altLang="en-US" dirty="0">
                <a:solidFill>
                  <a:srgbClr val="000000"/>
                </a:solidFill>
                <a:latin typeface="Verdana"/>
              </a:rPr>
              <a:t>Activities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buSzPct val="90000"/>
            </a:pPr>
            <a:r>
              <a:rPr lang="en-GB" altLang="en-US" dirty="0">
                <a:solidFill>
                  <a:srgbClr val="000000"/>
                </a:solidFill>
                <a:latin typeface="Verdana"/>
              </a:rPr>
              <a:t>Proposals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buSzPct val="90000"/>
            </a:pPr>
            <a:r>
              <a:rPr lang="en-GB" altLang="en-US" dirty="0">
                <a:solidFill>
                  <a:srgbClr val="000000"/>
                </a:solidFill>
                <a:latin typeface="Verdana"/>
              </a:rPr>
              <a:t>Outputs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buSzPct val="90000"/>
            </a:pPr>
            <a:r>
              <a:rPr lang="en-GB" altLang="en-US" dirty="0">
                <a:solidFill>
                  <a:srgbClr val="000000"/>
                </a:solidFill>
                <a:latin typeface="Verdana"/>
              </a:rPr>
              <a:t>Goals</a:t>
            </a:r>
            <a:endParaRPr lang="en-US" altLang="en-US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6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essential </a:t>
            </a:r>
            <a:r>
              <a:rPr lang="en-US" dirty="0" smtClean="0"/>
              <a:t>characteristics Of CC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1887200" cy="546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On-demand self-service. A consumer can unilaterally provision computing capabilities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, such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as server time and network storage, as needed automatically without requiring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human interaction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with each service provider.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Broad network access. Capabilities are available over the network and accessed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through standard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mechanisms that promote use by heterogeneous thin or thick client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platforms (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e.g., mobile phones, tablets, laptops, and workstations).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Resource pooling. The provider’s computing resources are pooled to serve multiple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consumers using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a multitenant model, with different physical and virtual resources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dynamically assigned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and reassigned according to consumer demand. There is a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sense of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location independence in that the customer generally has no control or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knowledge over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the exact location of the provided resources but may be able to specify location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at a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higher level of abstraction (e.g., country, state, or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data </a:t>
            </a:r>
            <a:r>
              <a:rPr lang="en-GB" altLang="en-US" sz="1800" dirty="0" err="1" smtClean="0">
                <a:solidFill>
                  <a:srgbClr val="1C4372"/>
                </a:solidFill>
                <a:latin typeface="Verdana"/>
              </a:rPr>
              <a:t>center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). Examples of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resources include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storage, processing, memory, and network bandwidth.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Rapid elasticity. Capabilities can be elastically provisioned and released, in some cases automatically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, to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scale rapidly outward and inward commensurate with demand. To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the consumer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, the capabilities available for provisioning often appear to be unlimited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and can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be appropriated in any quantity at any time.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Measured service. Cloud systems automatically control and optimize resource use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by leveraging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a metering capability at some level of abstraction appropriate to the type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of service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(e.g., storage, processing, bandwidth, and active user accounts). Resource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usage can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be monitored, controlled, and reported, providing transparency for both the 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provider and </a:t>
            </a:r>
            <a:r>
              <a:rPr lang="en-GB" altLang="en-US" sz="1800" dirty="0">
                <a:solidFill>
                  <a:srgbClr val="1C4372"/>
                </a:solidFill>
                <a:latin typeface="Verdana"/>
              </a:rPr>
              <a:t>consumer of the utilized service</a:t>
            </a:r>
            <a:r>
              <a:rPr lang="en-GB" altLang="en-US" sz="1800" dirty="0" smtClean="0">
                <a:solidFill>
                  <a:srgbClr val="1C4372"/>
                </a:solidFill>
                <a:latin typeface="Verdana"/>
              </a:rPr>
              <a:t>.</a:t>
            </a:r>
            <a:endParaRPr kumimoji="0" lang="en-GB" altLang="en-US" sz="1800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931160" y="3054240"/>
              <a:ext cx="2629080" cy="248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5320" y="2990880"/>
                <a:ext cx="2661120" cy="3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598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 smtClean="0"/>
              <a:t>CC Service models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" y="838200"/>
            <a:ext cx="11887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b="1" dirty="0">
                <a:solidFill>
                  <a:srgbClr val="1C4372"/>
                </a:solidFill>
                <a:latin typeface="Verdana"/>
              </a:rPr>
              <a:t>Software as a Service (SaaS</a:t>
            </a:r>
            <a:r>
              <a:rPr lang="en-GB" altLang="en-US" b="1" dirty="0" smtClean="0">
                <a:solidFill>
                  <a:srgbClr val="1C4372"/>
                </a:solidFill>
                <a:latin typeface="Verdana"/>
              </a:rPr>
              <a:t>).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1C4372"/>
                </a:solidFill>
                <a:effectLst/>
                <a:uLnTx/>
                <a:uFillTx/>
                <a:latin typeface="Verdana"/>
              </a:rPr>
              <a:t> </a:t>
            </a:r>
            <a:endParaRPr kumimoji="0" lang="en-US" altLang="en-US" b="1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The capability provided to the consumer is to use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provider’s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applications running on a cloud infrastructure. </a:t>
            </a:r>
            <a:endParaRPr lang="en-GB" altLang="en-US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applications are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accessible from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various client devices through either a thin client interface, such as a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web browser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(e.g., web-based e-mail), or a program interface. </a:t>
            </a:r>
            <a:endParaRPr lang="en-GB" altLang="en-US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consumer does not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manage or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control the underlying cloud infrastructure including network, servers,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operating systems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, storage, or even individual application capabilities, with the possible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exception of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limited user-specific application configuration settings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pPr marL="457200" lvl="0" indent="-45720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b="1" dirty="0">
                <a:solidFill>
                  <a:srgbClr val="1C4372"/>
                </a:solidFill>
                <a:latin typeface="Verdana"/>
              </a:rPr>
              <a:t>Platform as a Service (PaaS</a:t>
            </a:r>
            <a:r>
              <a:rPr lang="en-GB" altLang="en-US" b="1" dirty="0" smtClean="0">
                <a:solidFill>
                  <a:srgbClr val="1C4372"/>
                </a:solidFill>
                <a:latin typeface="Verdana"/>
              </a:rPr>
              <a:t>).</a:t>
            </a:r>
            <a:r>
              <a:rPr lang="en-US" altLang="en-US" b="1" dirty="0" smtClean="0">
                <a:solidFill>
                  <a:srgbClr val="1C4372"/>
                </a:solidFill>
                <a:latin typeface="Verdana"/>
              </a:rPr>
              <a:t> 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The capability provided to the consumer is to deploy onto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cloud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infrastructure consumer-created or acquired applications created using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programming languages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, libraries, services, and tools supported by the provider. </a:t>
            </a:r>
            <a:endParaRPr lang="en-GB" altLang="en-US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consumer does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not manage or control the underlying cloud infrastructure including network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, servers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, operating systems, or storage, but has control over the deployed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applications and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possibly configuration settings for the application-hosting environment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6120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 smtClean="0"/>
              <a:t>CC Service models (1)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" y="838200"/>
            <a:ext cx="4953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b="1" dirty="0">
                <a:solidFill>
                  <a:srgbClr val="1C4372"/>
                </a:solidFill>
                <a:latin typeface="Verdana"/>
              </a:rPr>
              <a:t>Infrastructure as a Service (IaaS</a:t>
            </a:r>
            <a:r>
              <a:rPr lang="en-GB" altLang="en-US" b="1" dirty="0" smtClean="0">
                <a:solidFill>
                  <a:srgbClr val="1C4372"/>
                </a:solidFill>
                <a:latin typeface="Verdana"/>
              </a:rPr>
              <a:t>).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1C4372"/>
                </a:solidFill>
                <a:effectLst/>
                <a:uLnTx/>
                <a:uFillTx/>
                <a:latin typeface="Verdana"/>
              </a:rPr>
              <a:t> </a:t>
            </a:r>
            <a:endParaRPr kumimoji="0" lang="en-US" altLang="en-US" b="1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The capability provided to the consumer is to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provision processing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, storage, networks, and other fundamental computing resources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where the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consumer is able to deploy and run arbitrary software, which can include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operating systems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and applications. </a:t>
            </a:r>
            <a:endParaRPr lang="en-GB" altLang="en-US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lnSpc>
                <a:spcPct val="90000"/>
              </a:lnSpc>
              <a:buClr>
                <a:srgbClr val="4F81BD"/>
              </a:buClr>
              <a:defRPr/>
            </a:pP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The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consumer does not manage or control the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underlying cloud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infrastructure but has control over operating systems, storage, and deployed applications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; and </a:t>
            </a:r>
            <a:r>
              <a:rPr lang="en-GB" altLang="en-US" sz="2000" dirty="0">
                <a:solidFill>
                  <a:srgbClr val="000000"/>
                </a:solidFill>
                <a:latin typeface="Verdana"/>
              </a:rPr>
              <a:t>possibly limited control of select networking components (e.g., </a:t>
            </a:r>
            <a:r>
              <a:rPr lang="en-GB" altLang="en-US" sz="2000" dirty="0" smtClean="0">
                <a:solidFill>
                  <a:srgbClr val="000000"/>
                </a:solidFill>
                <a:latin typeface="Verdana"/>
              </a:rPr>
              <a:t>host firewalls).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838200"/>
            <a:ext cx="6810283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0" y="5957370"/>
            <a:ext cx="360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LegacySans-Bold"/>
              </a:rPr>
              <a:t>Cloud computing 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1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 smtClean="0"/>
              <a:t>CC deployment </a:t>
            </a:r>
            <a:r>
              <a:rPr lang="en-US" dirty="0"/>
              <a:t>models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1237574" y="1219200"/>
            <a:ext cx="10704276" cy="1210308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CEC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gray">
          <a:xfrm>
            <a:off x="1237574" y="2514600"/>
            <a:ext cx="10704276" cy="949107"/>
          </a:xfrm>
          <a:prstGeom prst="rect">
            <a:avLst/>
          </a:prstGeom>
          <a:solidFill>
            <a:srgbClr val="CCECFF">
              <a:alpha val="49804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gray">
          <a:xfrm>
            <a:off x="1237574" y="3584793"/>
            <a:ext cx="10704276" cy="1215807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292929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CEC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9" name="Rectangle 174"/>
          <p:cNvSpPr>
            <a:spLocks noChangeArrowheads="1"/>
          </p:cNvSpPr>
          <p:nvPr/>
        </p:nvSpPr>
        <p:spPr bwMode="ltGray">
          <a:xfrm>
            <a:off x="361878" y="1219200"/>
            <a:ext cx="857322" cy="766763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292929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" name="Rectangle 175"/>
          <p:cNvSpPr>
            <a:spLocks noChangeArrowheads="1"/>
          </p:cNvSpPr>
          <p:nvPr/>
        </p:nvSpPr>
        <p:spPr bwMode="gray">
          <a:xfrm>
            <a:off x="361878" y="2514600"/>
            <a:ext cx="857322" cy="766763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292929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hlink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Rectangle 176"/>
          <p:cNvSpPr>
            <a:spLocks noChangeArrowheads="1"/>
          </p:cNvSpPr>
          <p:nvPr/>
        </p:nvSpPr>
        <p:spPr bwMode="gray">
          <a:xfrm>
            <a:off x="361878" y="3584793"/>
            <a:ext cx="857322" cy="766763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292929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folHlink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" name="Rectangle 177"/>
          <p:cNvSpPr>
            <a:spLocks noChangeArrowheads="1"/>
          </p:cNvSpPr>
          <p:nvPr/>
        </p:nvSpPr>
        <p:spPr bwMode="white">
          <a:xfrm>
            <a:off x="478113" y="1295400"/>
            <a:ext cx="62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FF"/>
                </a:solidFill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13" name="Rectangle 178"/>
          <p:cNvSpPr>
            <a:spLocks noChangeArrowheads="1"/>
          </p:cNvSpPr>
          <p:nvPr/>
        </p:nvSpPr>
        <p:spPr bwMode="white">
          <a:xfrm>
            <a:off x="478114" y="2625725"/>
            <a:ext cx="62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FF"/>
                </a:solidFill>
                <a:latin typeface="Verdana" panose="020B0604030504040204" pitchFamily="34" charset="0"/>
              </a:rPr>
              <a:t>2</a:t>
            </a:r>
          </a:p>
        </p:txBody>
      </p:sp>
      <p:sp>
        <p:nvSpPr>
          <p:cNvPr id="14" name="Rectangle 179"/>
          <p:cNvSpPr>
            <a:spLocks noChangeArrowheads="1"/>
          </p:cNvSpPr>
          <p:nvPr/>
        </p:nvSpPr>
        <p:spPr bwMode="white">
          <a:xfrm>
            <a:off x="478113" y="3686393"/>
            <a:ext cx="62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FF"/>
                </a:solidFill>
                <a:latin typeface="Verdana" panose="020B0604030504040204" pitchFamily="34" charset="0"/>
              </a:rPr>
              <a:t>3</a:t>
            </a:r>
          </a:p>
        </p:txBody>
      </p:sp>
      <p:sp>
        <p:nvSpPr>
          <p:cNvPr id="15" name="Rectangle 180"/>
          <p:cNvSpPr>
            <a:spLocks noChangeArrowheads="1"/>
          </p:cNvSpPr>
          <p:nvPr/>
        </p:nvSpPr>
        <p:spPr bwMode="auto">
          <a:xfrm>
            <a:off x="1289048" y="1219200"/>
            <a:ext cx="108267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Private cloud.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The cloud infrastructure is provisioned for exclusive use by a single </a:t>
            </a:r>
            <a:r>
              <a:rPr lang="en-GB" alt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organization comprising 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multiple consumers (e.g., business units). It may be owned, managed</a:t>
            </a:r>
            <a:r>
              <a:rPr lang="en-GB" alt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, and 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operated by the organization, a third party, or some combination of them, and it </a:t>
            </a:r>
            <a:r>
              <a:rPr lang="en-GB" alt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may exist 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on or off premises.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6" name="Rectangle 181"/>
          <p:cNvSpPr>
            <a:spLocks noChangeArrowheads="1"/>
          </p:cNvSpPr>
          <p:nvPr/>
        </p:nvSpPr>
        <p:spPr bwMode="auto">
          <a:xfrm>
            <a:off x="1289048" y="2505670"/>
            <a:ext cx="108267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Public cloud.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The cloud infrastructure is provisioned for open use by the general public. It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may be owned, managed, and operated by a business, academic, or government organization</a:t>
            </a:r>
            <a:r>
              <a:rPr lang="en-GB" alt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, or 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some combination of them. It exists on the premises of the cloud provider.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7" name="Rectangle 182"/>
          <p:cNvSpPr>
            <a:spLocks noChangeArrowheads="1"/>
          </p:cNvSpPr>
          <p:nvPr/>
        </p:nvSpPr>
        <p:spPr bwMode="auto">
          <a:xfrm>
            <a:off x="1289048" y="3565564"/>
            <a:ext cx="108267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Hybrid cloud.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The cloud infrastructure is a composition of two or more distinct cloud </a:t>
            </a:r>
            <a:r>
              <a:rPr lang="en-GB" altLang="en-US" dirty="0" smtClean="0">
                <a:solidFill>
                  <a:srgbClr val="000000"/>
                </a:solidFill>
                <a:latin typeface="Verdana" panose="020B0604030504040204" pitchFamily="34" charset="0"/>
              </a:rPr>
              <a:t>infrastructures (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private, community, or public) that remain unique entities, but are bound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together by standardized or proprietary technology that enables data and application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portability (e.g., cloud bursting for load balancing between clouds).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gray">
          <a:xfrm>
            <a:off x="1234399" y="4948237"/>
            <a:ext cx="10704276" cy="1604963"/>
          </a:xfrm>
          <a:prstGeom prst="rect">
            <a:avLst/>
          </a:prstGeom>
          <a:solidFill>
            <a:srgbClr val="CCEC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292929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CEC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0" name="Rectangle 175"/>
          <p:cNvSpPr>
            <a:spLocks noChangeArrowheads="1"/>
          </p:cNvSpPr>
          <p:nvPr/>
        </p:nvSpPr>
        <p:spPr bwMode="gray">
          <a:xfrm>
            <a:off x="358703" y="4948237"/>
            <a:ext cx="857322" cy="766763"/>
          </a:xfrm>
          <a:prstGeom prst="rect">
            <a:avLst/>
          </a:prstGeom>
          <a:solidFill>
            <a:srgbClr val="1C4372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Rectangle 178"/>
          <p:cNvSpPr>
            <a:spLocks noChangeArrowheads="1"/>
          </p:cNvSpPr>
          <p:nvPr/>
        </p:nvSpPr>
        <p:spPr bwMode="white">
          <a:xfrm>
            <a:off x="474940" y="5059362"/>
            <a:ext cx="62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Verdana" panose="020B0604030504040204" pitchFamily="34" charset="0"/>
              </a:rPr>
              <a:t>4</a:t>
            </a:r>
            <a:endParaRPr lang="en-US" altLang="en-US" sz="2400" b="1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4" name="Rectangle 181"/>
          <p:cNvSpPr>
            <a:spLocks noChangeArrowheads="1"/>
          </p:cNvSpPr>
          <p:nvPr/>
        </p:nvSpPr>
        <p:spPr bwMode="auto">
          <a:xfrm>
            <a:off x="1285872" y="4953000"/>
            <a:ext cx="107537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Community cloud.</a:t>
            </a: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The cloud infrastructure is provisioned for exclusive use by a specific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community of consumers from organizations that have shared concerns (e.g., mission,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security requirements, policy, and compliance considerations). It may be owned, managed,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and operated by one or more of the organizations in the community, a third party,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or some combination of them, and it may exist on or off premises.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9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1"/>
            <a:ext cx="10515600" cy="5635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n-US" kern="0" dirty="0">
                <a:solidFill>
                  <a:sysClr val="windowText" lastClr="000000"/>
                </a:solidFill>
              </a:rPr>
              <a:t>What is Mobile computing </a:t>
            </a:r>
            <a:r>
              <a:rPr lang="en-US" kern="0" dirty="0" smtClean="0">
                <a:solidFill>
                  <a:sysClr val="windowText" lastClr="000000"/>
                </a:solidFill>
              </a:rPr>
              <a:t>(MC)?</a:t>
            </a:r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203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Focuses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on device mobility and context awareness considering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networking and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mobile resource/data access. </a:t>
            </a:r>
            <a:endParaRPr lang="en-GB" altLang="en-US" sz="3200" dirty="0" smtClean="0">
              <a:solidFill>
                <a:srgbClr val="1C4372"/>
              </a:solidFill>
              <a:latin typeface="Verdana"/>
            </a:endParaRP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MC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applications usually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rely on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mobile devices to create, access, process, store, and communicate information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without being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constrained to a single location. </a:t>
            </a:r>
            <a:endParaRPr lang="en-GB" altLang="en-US" sz="3200" dirty="0" smtClean="0">
              <a:solidFill>
                <a:srgbClr val="1C4372"/>
              </a:solidFill>
              <a:latin typeface="Verdana"/>
            </a:endParaRP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MC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usually considers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similar types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of mobile devices that offers many otherwise unattainable benefits to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organizations that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choose to integrate it into their fixed information system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. </a:t>
            </a:r>
            <a:endParaRPr lang="en-GB" altLang="en-US" sz="3200" dirty="0">
              <a:solidFill>
                <a:srgbClr val="1C4372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8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essential </a:t>
            </a:r>
            <a:r>
              <a:rPr lang="en-US" dirty="0" smtClean="0"/>
              <a:t>characteristics Of MC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1887200" cy="546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Portability. The era of focus on portability was about reducing the size of hardware to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enable the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creation of computers that could be physically moved around relatively easily.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Miniaturization. Miniaturization was about creating new and significantly smaller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mobile form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factors that allowed the use of personal mobile devices while on the move.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Connectivity. Connectivity was about developing devices and applications that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allowed users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to be online and communicate via wireless data networks while on the move.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Convergence. Convergence was about integrating emerging types of digital mobile devices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, such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as smart phones, music players, cameras, games, etc., into hybrid devices.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Divergence. Divergence took an opposite approach to interaction design by promoting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information appliances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with specialized functionality rather than generalized ones.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Applications. The latest wave of applications is about developing matter and substance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for use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and consumption on mobile devices, and making access to this fun or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functional interactive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application content easy and enjoyable.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Digital ecosystems (e.g., </a:t>
            </a:r>
            <a:r>
              <a:rPr lang="en-GB" altLang="en-US" sz="2000" dirty="0" err="1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). Finally, the emerging wave of digital ecosystems is about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the larger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wholes of pervasive and interrelated technologies that interactive mobile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systems are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increasingly becoming a part of.</a:t>
            </a:r>
            <a:endParaRPr kumimoji="0" lang="en-GB" altLang="en-US" sz="2000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7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1"/>
            <a:ext cx="10515600" cy="5635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n-US" kern="0" dirty="0">
                <a:solidFill>
                  <a:sysClr val="windowText" lastClr="000000"/>
                </a:solidFill>
              </a:rPr>
              <a:t>What is Mobile Cloud Computing (MCC)</a:t>
            </a:r>
            <a:r>
              <a:rPr lang="en-US" kern="0" dirty="0" smtClean="0">
                <a:solidFill>
                  <a:sysClr val="windowText" lastClr="000000"/>
                </a:solidFill>
              </a:rPr>
              <a:t>?</a:t>
            </a:r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203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MCC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leverages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unified elastic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resources of varied clouds and network technologies toward unrestricted functionality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, storage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, and mobility to serve a multitude of mobile devices anywhere, anytime through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the Internet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, regardless of heterogeneous environments and platforms based on the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pay-as-you use principle.</a:t>
            </a: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This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definition is a combination of cloud computing and mobile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computing by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describing MCC’s service features focusing on how mobile devices acquire and then </a:t>
            </a:r>
            <a:r>
              <a:rPr lang="en-GB" altLang="en-US" sz="3200" dirty="0" smtClean="0">
                <a:solidFill>
                  <a:srgbClr val="1C4372"/>
                </a:solidFill>
                <a:latin typeface="Verdana"/>
              </a:rPr>
              <a:t>use cloud </a:t>
            </a:r>
            <a:r>
              <a:rPr lang="en-GB" altLang="en-US" sz="3200" dirty="0">
                <a:solidFill>
                  <a:srgbClr val="1C4372"/>
                </a:solidFill>
                <a:latin typeface="Verdana"/>
              </a:rPr>
              <a:t>computing based services through mobile networks.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7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bile Cloud Compu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5257800" cy="358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64" y="-9527"/>
            <a:ext cx="2777836" cy="359092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-1" y="0"/>
            <a:ext cx="4191001" cy="3581400"/>
          </a:xfrm>
          <a:custGeom>
            <a:avLst/>
            <a:gdLst/>
            <a:ahLst/>
            <a:cxnLst/>
            <a:rect l="l" t="t" r="r" b="b"/>
            <a:pathLst>
              <a:path w="4114800" h="3581400">
                <a:moveTo>
                  <a:pt x="4114800" y="0"/>
                </a:moveTo>
                <a:lnTo>
                  <a:pt x="0" y="0"/>
                </a:lnTo>
                <a:lnTo>
                  <a:pt x="0" y="3581400"/>
                </a:lnTo>
                <a:lnTo>
                  <a:pt x="4114800" y="3581400"/>
                </a:lnTo>
                <a:lnTo>
                  <a:pt x="4114800" y="0"/>
                </a:lnTo>
                <a:close/>
              </a:path>
            </a:pathLst>
          </a:custGeom>
          <a:solidFill>
            <a:srgbClr val="C4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2" y="982850"/>
            <a:ext cx="3886198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3200" spc="5" dirty="0">
                <a:solidFill>
                  <a:srgbClr val="FFFFFF"/>
                </a:solidFill>
                <a:latin typeface="Arial"/>
                <a:cs typeface="Arial"/>
              </a:rPr>
              <a:t>Mobile Cloud Solutions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8600" y="1"/>
            <a:ext cx="5562600" cy="563563"/>
          </a:xfrm>
        </p:spPr>
        <p:txBody>
          <a:bodyPr/>
          <a:lstStyle/>
          <a:p>
            <a:r>
              <a:rPr lang="en-US" dirty="0"/>
              <a:t>Mobile Platforms</a:t>
            </a:r>
          </a:p>
        </p:txBody>
      </p:sp>
      <p:sp>
        <p:nvSpPr>
          <p:cNvPr id="3" name="Oval 30"/>
          <p:cNvSpPr>
            <a:spLocks noChangeArrowheads="1"/>
          </p:cNvSpPr>
          <p:nvPr/>
        </p:nvSpPr>
        <p:spPr bwMode="gray">
          <a:xfrm>
            <a:off x="841375" y="2541249"/>
            <a:ext cx="3743325" cy="3743325"/>
          </a:xfrm>
          <a:prstGeom prst="ellipse">
            <a:avLst/>
          </a:pr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4" name="Oval 31"/>
          <p:cNvSpPr>
            <a:spLocks noChangeArrowheads="1"/>
          </p:cNvSpPr>
          <p:nvPr/>
        </p:nvSpPr>
        <p:spPr bwMode="gray">
          <a:xfrm>
            <a:off x="1335087" y="3020674"/>
            <a:ext cx="2749550" cy="2746375"/>
          </a:xfrm>
          <a:prstGeom prst="ellipse">
            <a:avLst/>
          </a:prstGeom>
          <a:gradFill rotWithShape="1">
            <a:gsLst>
              <a:gs pos="0">
                <a:srgbClr val="FFFFFF">
                  <a:gamma/>
                  <a:shade val="63137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63137"/>
                  <a:invGamma/>
                </a:srgbClr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gray">
          <a:xfrm>
            <a:off x="1665123" y="4123986"/>
            <a:ext cx="19843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Mobile OS</a:t>
            </a:r>
            <a:endParaRPr lang="en-US" altLang="en-US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1878012" y="2015786"/>
            <a:ext cx="1631950" cy="1612900"/>
            <a:chOff x="437" y="1700"/>
            <a:chExt cx="1110" cy="1096"/>
          </a:xfrm>
        </p:grpSpPr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437" y="1700"/>
              <a:ext cx="1110" cy="1096"/>
              <a:chOff x="437" y="1700"/>
              <a:chExt cx="1110" cy="1096"/>
            </a:xfrm>
          </p:grpSpPr>
          <p:sp>
            <p:nvSpPr>
              <p:cNvPr id="12" name="Oval 38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3333CC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13" name="Oval 39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4F81B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9" name="Group 40"/>
            <p:cNvGrpSpPr>
              <a:grpSpLocks/>
            </p:cNvGrpSpPr>
            <p:nvPr/>
          </p:nvGrpSpPr>
          <p:grpSpPr bwMode="auto">
            <a:xfrm>
              <a:off x="486" y="1748"/>
              <a:ext cx="1026" cy="1014"/>
              <a:chOff x="437" y="1700"/>
              <a:chExt cx="1110" cy="1096"/>
            </a:xfrm>
          </p:grpSpPr>
          <p:sp>
            <p:nvSpPr>
              <p:cNvPr id="10" name="Oval 41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4F81B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11" name="Oval 42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3333CC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14" name="Group 43"/>
          <p:cNvGrpSpPr>
            <a:grpSpLocks/>
          </p:cNvGrpSpPr>
          <p:nvPr/>
        </p:nvGrpSpPr>
        <p:grpSpPr bwMode="auto">
          <a:xfrm>
            <a:off x="468312" y="4419261"/>
            <a:ext cx="1631950" cy="1612900"/>
            <a:chOff x="437" y="1700"/>
            <a:chExt cx="1110" cy="1096"/>
          </a:xfrm>
        </p:grpSpPr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437" y="1700"/>
              <a:ext cx="1110" cy="1096"/>
              <a:chOff x="437" y="1700"/>
              <a:chExt cx="1110" cy="1096"/>
            </a:xfrm>
          </p:grpSpPr>
          <p:sp>
            <p:nvSpPr>
              <p:cNvPr id="19" name="Oval 45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C0504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20" name="Oval 46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C0504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6" name="Group 47"/>
            <p:cNvGrpSpPr>
              <a:grpSpLocks/>
            </p:cNvGrpSpPr>
            <p:nvPr/>
          </p:nvGrpSpPr>
          <p:grpSpPr bwMode="auto">
            <a:xfrm>
              <a:off x="486" y="1748"/>
              <a:ext cx="1026" cy="1014"/>
              <a:chOff x="437" y="1700"/>
              <a:chExt cx="1110" cy="1096"/>
            </a:xfrm>
          </p:grpSpPr>
          <p:sp>
            <p:nvSpPr>
              <p:cNvPr id="17" name="Oval 48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C0504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18" name="Oval 49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C0504D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21" name="Group 50"/>
          <p:cNvGrpSpPr>
            <a:grpSpLocks/>
          </p:cNvGrpSpPr>
          <p:nvPr/>
        </p:nvGrpSpPr>
        <p:grpSpPr bwMode="auto">
          <a:xfrm>
            <a:off x="3198812" y="4419261"/>
            <a:ext cx="1631950" cy="1612900"/>
            <a:chOff x="437" y="1700"/>
            <a:chExt cx="1110" cy="1096"/>
          </a:xfrm>
        </p:grpSpPr>
        <p:grpSp>
          <p:nvGrpSpPr>
            <p:cNvPr id="22" name="Group 51"/>
            <p:cNvGrpSpPr>
              <a:grpSpLocks/>
            </p:cNvGrpSpPr>
            <p:nvPr/>
          </p:nvGrpSpPr>
          <p:grpSpPr bwMode="auto">
            <a:xfrm>
              <a:off x="437" y="1700"/>
              <a:ext cx="1110" cy="1096"/>
              <a:chOff x="437" y="1700"/>
              <a:chExt cx="1110" cy="1096"/>
            </a:xfrm>
          </p:grpSpPr>
          <p:sp>
            <p:nvSpPr>
              <p:cNvPr id="26" name="Oval 52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9BBB59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27" name="Oval 53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817E00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3" name="Group 54"/>
            <p:cNvGrpSpPr>
              <a:grpSpLocks/>
            </p:cNvGrpSpPr>
            <p:nvPr/>
          </p:nvGrpSpPr>
          <p:grpSpPr bwMode="auto">
            <a:xfrm>
              <a:off x="486" y="1748"/>
              <a:ext cx="1026" cy="1014"/>
              <a:chOff x="437" y="1700"/>
              <a:chExt cx="1110" cy="1096"/>
            </a:xfrm>
          </p:grpSpPr>
          <p:sp>
            <p:nvSpPr>
              <p:cNvPr id="24" name="Oval 55"/>
              <p:cNvSpPr>
                <a:spLocks noChangeArrowheads="1"/>
              </p:cNvSpPr>
              <p:nvPr/>
            </p:nvSpPr>
            <p:spPr bwMode="gray">
              <a:xfrm>
                <a:off x="437" y="1700"/>
                <a:ext cx="1110" cy="1096"/>
              </a:xfrm>
              <a:prstGeom prst="ellipse">
                <a:avLst/>
              </a:prstGeom>
              <a:solidFill>
                <a:srgbClr val="817E00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  <p:sp>
            <p:nvSpPr>
              <p:cNvPr id="25" name="Oval 56"/>
              <p:cNvSpPr>
                <a:spLocks noChangeArrowheads="1"/>
              </p:cNvSpPr>
              <p:nvPr/>
            </p:nvSpPr>
            <p:spPr bwMode="gray">
              <a:xfrm>
                <a:off x="462" y="1725"/>
                <a:ext cx="1062" cy="1048"/>
              </a:xfrm>
              <a:prstGeom prst="ellipse">
                <a:avLst/>
              </a:prstGeom>
              <a:solidFill>
                <a:srgbClr val="817E00">
                  <a:alpha val="10001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28" name="Group 57"/>
          <p:cNvGrpSpPr>
            <a:grpSpLocks/>
          </p:cNvGrpSpPr>
          <p:nvPr/>
        </p:nvGrpSpPr>
        <p:grpSpPr bwMode="auto">
          <a:xfrm>
            <a:off x="1952625" y="2066586"/>
            <a:ext cx="1466850" cy="1447800"/>
            <a:chOff x="708" y="2203"/>
            <a:chExt cx="751" cy="741"/>
          </a:xfrm>
        </p:grpSpPr>
        <p:sp>
          <p:nvSpPr>
            <p:cNvPr id="29" name="Oval 58"/>
            <p:cNvSpPr>
              <a:spLocks noChangeArrowheads="1"/>
            </p:cNvSpPr>
            <p:nvPr/>
          </p:nvSpPr>
          <p:spPr bwMode="gray">
            <a:xfrm>
              <a:off x="728" y="2235"/>
              <a:ext cx="716" cy="709"/>
            </a:xfrm>
            <a:prstGeom prst="ellipse">
              <a:avLst/>
            </a:prstGeom>
            <a:gradFill rotWithShape="1">
              <a:gsLst>
                <a:gs pos="0">
                  <a:srgbClr val="4F81BD"/>
                </a:gs>
                <a:gs pos="100000">
                  <a:srgbClr val="4F81BD">
                    <a:gamma/>
                    <a:shade val="31765"/>
                    <a:invGamma/>
                  </a:srgbClr>
                </a:gs>
              </a:gsLst>
              <a:lin ang="5400000" scaled="1"/>
            </a:gradFill>
            <a:ln w="38100" algn="ctr">
              <a:solidFill>
                <a:srgbClr val="F8F8F8">
                  <a:alpha val="80000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pic>
          <p:nvPicPr>
            <p:cNvPr id="30" name="Picture 59" descr="cir_lighteffect0"/>
            <p:cNvPicPr>
              <a:picLocks noChangeAspect="1" noChangeArrowheads="1"/>
            </p:cNvPicPr>
            <p:nvPr/>
          </p:nvPicPr>
          <p:blipFill>
            <a:blip r:embed="rId3">
              <a:lum bright="18000" contras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708" y="2203"/>
              <a:ext cx="751" cy="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 60"/>
          <p:cNvSpPr>
            <a:spLocks noChangeArrowheads="1"/>
          </p:cNvSpPr>
          <p:nvPr/>
        </p:nvSpPr>
        <p:spPr bwMode="gray">
          <a:xfrm>
            <a:off x="1981200" y="2580876"/>
            <a:ext cx="14509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8F8F8"/>
                </a:solidFill>
                <a:latin typeface="Arial" panose="020B0604020202020204" pitchFamily="34" charset="0"/>
              </a:rPr>
              <a:t> Apple iOS</a:t>
            </a:r>
          </a:p>
        </p:txBody>
      </p:sp>
      <p:grpSp>
        <p:nvGrpSpPr>
          <p:cNvPr id="32" name="Group 61"/>
          <p:cNvGrpSpPr>
            <a:grpSpLocks/>
          </p:cNvGrpSpPr>
          <p:nvPr/>
        </p:nvGrpSpPr>
        <p:grpSpPr bwMode="auto">
          <a:xfrm>
            <a:off x="539750" y="4481174"/>
            <a:ext cx="1466850" cy="1447800"/>
            <a:chOff x="708" y="2203"/>
            <a:chExt cx="751" cy="741"/>
          </a:xfrm>
        </p:grpSpPr>
        <p:sp>
          <p:nvSpPr>
            <p:cNvPr id="33" name="Oval 62"/>
            <p:cNvSpPr>
              <a:spLocks noChangeArrowheads="1"/>
            </p:cNvSpPr>
            <p:nvPr/>
          </p:nvSpPr>
          <p:spPr bwMode="gray">
            <a:xfrm>
              <a:off x="728" y="2235"/>
              <a:ext cx="716" cy="709"/>
            </a:xfrm>
            <a:prstGeom prst="ellipse">
              <a:avLst/>
            </a:prstGeom>
            <a:gradFill rotWithShape="1">
              <a:gsLst>
                <a:gs pos="0">
                  <a:srgbClr val="C0504D"/>
                </a:gs>
                <a:gs pos="100000">
                  <a:srgbClr val="C0504D">
                    <a:gamma/>
                    <a:shade val="31765"/>
                    <a:invGamma/>
                  </a:srgbClr>
                </a:gs>
              </a:gsLst>
              <a:lin ang="5400000" scaled="1"/>
            </a:gradFill>
            <a:ln w="38100" algn="ctr">
              <a:solidFill>
                <a:srgbClr val="F8F8F8">
                  <a:alpha val="80000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pic>
          <p:nvPicPr>
            <p:cNvPr id="34" name="Picture 63" descr="cir_lighteffect0"/>
            <p:cNvPicPr>
              <a:picLocks noChangeAspect="1" noChangeArrowheads="1"/>
            </p:cNvPicPr>
            <p:nvPr/>
          </p:nvPicPr>
          <p:blipFill>
            <a:blip r:embed="rId3">
              <a:lum bright="18000" contras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708" y="2203"/>
              <a:ext cx="751" cy="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Rectangle 64"/>
          <p:cNvSpPr>
            <a:spLocks noChangeArrowheads="1"/>
          </p:cNvSpPr>
          <p:nvPr/>
        </p:nvSpPr>
        <p:spPr bwMode="gray">
          <a:xfrm>
            <a:off x="449098" y="5019276"/>
            <a:ext cx="16511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8F8F8"/>
                </a:solidFill>
                <a:latin typeface="Arial" panose="020B0604020202020204" pitchFamily="34" charset="0"/>
              </a:rPr>
              <a:t>Android</a:t>
            </a:r>
          </a:p>
        </p:txBody>
      </p:sp>
      <p:grpSp>
        <p:nvGrpSpPr>
          <p:cNvPr id="36" name="Group 65"/>
          <p:cNvGrpSpPr>
            <a:grpSpLocks/>
          </p:cNvGrpSpPr>
          <p:nvPr/>
        </p:nvGrpSpPr>
        <p:grpSpPr bwMode="auto">
          <a:xfrm>
            <a:off x="3300412" y="4481174"/>
            <a:ext cx="1466850" cy="1447800"/>
            <a:chOff x="708" y="2203"/>
            <a:chExt cx="751" cy="741"/>
          </a:xfrm>
        </p:grpSpPr>
        <p:sp>
          <p:nvSpPr>
            <p:cNvPr id="37" name="Oval 66"/>
            <p:cNvSpPr>
              <a:spLocks noChangeArrowheads="1"/>
            </p:cNvSpPr>
            <p:nvPr/>
          </p:nvSpPr>
          <p:spPr bwMode="gray">
            <a:xfrm>
              <a:off x="728" y="2235"/>
              <a:ext cx="716" cy="709"/>
            </a:xfrm>
            <a:prstGeom prst="ellipse">
              <a:avLst/>
            </a:prstGeom>
            <a:gradFill rotWithShape="1">
              <a:gsLst>
                <a:gs pos="0">
                  <a:srgbClr val="0099CC"/>
                </a:gs>
                <a:gs pos="100000">
                  <a:srgbClr val="0099CC">
                    <a:gamma/>
                    <a:shade val="31765"/>
                    <a:invGamma/>
                  </a:srgbClr>
                </a:gs>
              </a:gsLst>
              <a:lin ang="5400000" scaled="1"/>
            </a:gradFill>
            <a:ln w="38100" algn="ctr">
              <a:solidFill>
                <a:srgbClr val="F8F8F8">
                  <a:alpha val="80000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pic>
          <p:nvPicPr>
            <p:cNvPr id="38" name="Picture 67" descr="cir_lighteffect0"/>
            <p:cNvPicPr>
              <a:picLocks noChangeAspect="1" noChangeArrowheads="1"/>
            </p:cNvPicPr>
            <p:nvPr/>
          </p:nvPicPr>
          <p:blipFill>
            <a:blip r:embed="rId3">
              <a:lum bright="18000" contras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708" y="2203"/>
              <a:ext cx="751" cy="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oup 68"/>
          <p:cNvGrpSpPr>
            <a:grpSpLocks/>
          </p:cNvGrpSpPr>
          <p:nvPr/>
        </p:nvGrpSpPr>
        <p:grpSpPr bwMode="auto">
          <a:xfrm>
            <a:off x="3320733" y="4453579"/>
            <a:ext cx="1466850" cy="1447800"/>
            <a:chOff x="708" y="2203"/>
            <a:chExt cx="751" cy="741"/>
          </a:xfrm>
        </p:grpSpPr>
        <p:sp>
          <p:nvSpPr>
            <p:cNvPr id="40" name="Oval 69"/>
            <p:cNvSpPr>
              <a:spLocks noChangeArrowheads="1"/>
            </p:cNvSpPr>
            <p:nvPr/>
          </p:nvSpPr>
          <p:spPr bwMode="gray">
            <a:xfrm>
              <a:off x="728" y="2235"/>
              <a:ext cx="716" cy="709"/>
            </a:xfrm>
            <a:prstGeom prst="ellipse">
              <a:avLst/>
            </a:prstGeom>
            <a:gradFill rotWithShape="1">
              <a:gsLst>
                <a:gs pos="0">
                  <a:srgbClr val="9BBB59"/>
                </a:gs>
                <a:gs pos="100000">
                  <a:srgbClr val="9BBB59">
                    <a:gamma/>
                    <a:shade val="31765"/>
                    <a:invGamma/>
                  </a:srgbClr>
                </a:gs>
              </a:gsLst>
              <a:lin ang="5400000" scaled="1"/>
            </a:gradFill>
            <a:ln w="38100" algn="ctr">
              <a:solidFill>
                <a:srgbClr val="F8F8F8">
                  <a:alpha val="80000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pic>
          <p:nvPicPr>
            <p:cNvPr id="41" name="Picture 70" descr="cir_lighteffect0"/>
            <p:cNvPicPr>
              <a:picLocks noChangeAspect="1" noChangeArrowheads="1"/>
            </p:cNvPicPr>
            <p:nvPr/>
          </p:nvPicPr>
          <p:blipFill>
            <a:blip r:embed="rId3">
              <a:lum bright="18000" contras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708" y="2203"/>
              <a:ext cx="751" cy="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Rectangle 71"/>
          <p:cNvSpPr>
            <a:spLocks noChangeArrowheads="1"/>
          </p:cNvSpPr>
          <p:nvPr/>
        </p:nvSpPr>
        <p:spPr bwMode="gray">
          <a:xfrm>
            <a:off x="3198813" y="5019276"/>
            <a:ext cx="16278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srgbClr val="F8F8F8"/>
                </a:solidFill>
                <a:latin typeface="Arial" panose="020B0604020202020204" pitchFamily="34" charset="0"/>
              </a:rPr>
              <a:t>KaiOS</a:t>
            </a:r>
            <a:endParaRPr lang="en-US" altLang="en-US" sz="2000" b="1" dirty="0">
              <a:solidFill>
                <a:srgbClr val="F8F8F8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152400" y="914400"/>
            <a:ext cx="11887200" cy="1178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The mobile applications are developed on various platforms. Two platforms comprising the largest share of the current market are Apple iOS and Google Android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.</a:t>
            </a:r>
            <a:endParaRPr lang="en-GB" altLang="en-US" dirty="0">
              <a:solidFill>
                <a:srgbClr val="1C4372"/>
              </a:solidFill>
              <a:latin typeface="Verdana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C67EB6E-A6FA-4F73-971B-5F11A2CC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551" y="2580876"/>
            <a:ext cx="64389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2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Cloud-based Mobile Service Platforms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gray">
          <a:xfrm>
            <a:off x="4343400" y="2739100"/>
            <a:ext cx="5562600" cy="1323975"/>
          </a:xfrm>
          <a:prstGeom prst="roundRect">
            <a:avLst>
              <a:gd name="adj" fmla="val 10889"/>
            </a:avLst>
          </a:prstGeom>
          <a:gradFill rotWithShape="1">
            <a:gsLst>
              <a:gs pos="0">
                <a:srgbClr val="DDDDDD">
                  <a:gamma/>
                  <a:tint val="51373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outerShdw dist="135003" dir="292884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gray">
          <a:xfrm>
            <a:off x="6019798" y="3137860"/>
            <a:ext cx="39766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000000"/>
                </a:solidFill>
              </a:rPr>
              <a:t>Dropbox, cloud storage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gray">
          <a:xfrm>
            <a:off x="4343400" y="1066800"/>
            <a:ext cx="5562600" cy="1323975"/>
          </a:xfrm>
          <a:prstGeom prst="roundRect">
            <a:avLst>
              <a:gd name="adj" fmla="val 10889"/>
            </a:avLst>
          </a:prstGeom>
          <a:gradFill rotWithShape="1">
            <a:gsLst>
              <a:gs pos="0">
                <a:srgbClr val="DDDDDD">
                  <a:gamma/>
                  <a:tint val="51373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outerShdw dist="135003" dir="292884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gray">
          <a:xfrm>
            <a:off x="4419600" y="1138237"/>
            <a:ext cx="1462087" cy="1184275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69804"/>
                  <a:invGamma/>
                </a:schemeClr>
              </a:gs>
            </a:gsLst>
            <a:lin ang="5400000" scaled="1"/>
          </a:gradFill>
          <a:ln w="38100">
            <a:solidFill>
              <a:srgbClr val="FEFEFE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gray">
          <a:xfrm>
            <a:off x="6019798" y="1438572"/>
            <a:ext cx="39766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000000"/>
                </a:solidFill>
              </a:rPr>
              <a:t>Google Services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gray">
          <a:xfrm>
            <a:off x="4343400" y="4391025"/>
            <a:ext cx="5562600" cy="1323975"/>
          </a:xfrm>
          <a:prstGeom prst="roundRect">
            <a:avLst>
              <a:gd name="adj" fmla="val 10889"/>
            </a:avLst>
          </a:prstGeom>
          <a:gradFill rotWithShape="1">
            <a:gsLst>
              <a:gs pos="0">
                <a:srgbClr val="DDDDDD">
                  <a:gamma/>
                  <a:tint val="51373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outerShdw dist="135003" dir="292884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gray">
          <a:xfrm>
            <a:off x="4419600" y="2829587"/>
            <a:ext cx="1462087" cy="1184275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69804"/>
                  <a:invGamma/>
                </a:schemeClr>
              </a:gs>
            </a:gsLst>
            <a:lin ang="5400000" scaled="1"/>
          </a:gradFill>
          <a:ln w="38100">
            <a:solidFill>
              <a:srgbClr val="FEFEFE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gray">
          <a:xfrm>
            <a:off x="6019798" y="4762797"/>
            <a:ext cx="39766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000000"/>
                </a:solidFill>
              </a:rPr>
              <a:t>Microsoft Office365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Freeform 16"/>
          <p:cNvSpPr>
            <a:spLocks/>
          </p:cNvSpPr>
          <p:nvPr/>
        </p:nvSpPr>
        <p:spPr bwMode="gray">
          <a:xfrm>
            <a:off x="4495800" y="1222375"/>
            <a:ext cx="729139" cy="592137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tint val="54510"/>
                  <a:invGamma/>
                </a:schemeClr>
              </a:gs>
              <a:gs pos="50000">
                <a:schemeClr val="accent1">
                  <a:alpha val="0"/>
                </a:schemeClr>
              </a:gs>
              <a:gs pos="100000">
                <a:schemeClr val="accent1">
                  <a:gamma/>
                  <a:tint val="54510"/>
                  <a:invGamma/>
                </a:scheme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7"/>
          <p:cNvSpPr>
            <a:spLocks/>
          </p:cNvSpPr>
          <p:nvPr/>
        </p:nvSpPr>
        <p:spPr bwMode="gray">
          <a:xfrm>
            <a:off x="4495800" y="2913725"/>
            <a:ext cx="729139" cy="592137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tint val="54510"/>
                  <a:invGamma/>
                </a:schemeClr>
              </a:gs>
              <a:gs pos="50000">
                <a:schemeClr val="hlink">
                  <a:alpha val="0"/>
                </a:schemeClr>
              </a:gs>
              <a:gs pos="100000">
                <a:schemeClr val="hlink">
                  <a:gamma/>
                  <a:tint val="54510"/>
                  <a:invGamma/>
                </a:scheme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gray">
          <a:xfrm>
            <a:off x="4419600" y="4462462"/>
            <a:ext cx="1462087" cy="1184275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69804"/>
                  <a:invGamma/>
                </a:schemeClr>
              </a:gs>
            </a:gsLst>
            <a:lin ang="5400000" scaled="1"/>
          </a:gradFill>
          <a:ln w="38100">
            <a:solidFill>
              <a:srgbClr val="FEFEFE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5"/>
          <p:cNvSpPr>
            <a:spLocks/>
          </p:cNvSpPr>
          <p:nvPr/>
        </p:nvSpPr>
        <p:spPr bwMode="gray">
          <a:xfrm>
            <a:off x="4495800" y="4538662"/>
            <a:ext cx="729139" cy="592138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gamma/>
                  <a:tint val="54510"/>
                  <a:invGamma/>
                </a:schemeClr>
              </a:gs>
              <a:gs pos="50000">
                <a:schemeClr val="accent2">
                  <a:alpha val="0"/>
                </a:schemeClr>
              </a:gs>
              <a:gs pos="100000">
                <a:schemeClr val="accent2">
                  <a:gamma/>
                  <a:tint val="54510"/>
                  <a:invGamma/>
                </a:scheme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462" y="1104900"/>
            <a:ext cx="1150362" cy="118361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174178" y="1159246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-Roman"/>
              </a:rPr>
              <a:t>Google maps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174178" y="1506465"/>
            <a:ext cx="1941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-Roman"/>
              </a:rPr>
              <a:t>Google Translate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174178" y="187993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-Roman"/>
              </a:rPr>
              <a:t>Google Docs</a:t>
            </a:r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568" y="2971800"/>
            <a:ext cx="664150" cy="8143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668" y="4640261"/>
            <a:ext cx="1123950" cy="84296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905851" y="5980409"/>
            <a:ext cx="5064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Yelp (Cloud-based Virtual Augment)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Internet of Things (Cloud Mirroring)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152400" y="914399"/>
            <a:ext cx="3886200" cy="271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Some of the current cloud service platforms that support mobile applications/services:</a:t>
            </a:r>
          </a:p>
        </p:txBody>
      </p:sp>
    </p:spTree>
    <p:extLst>
      <p:ext uri="{BB962C8B-B14F-4D97-AF65-F5344CB8AC3E}">
        <p14:creationId xmlns:p14="http://schemas.microsoft.com/office/powerpoint/2010/main" val="309346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1"/>
            <a:ext cx="10515600" cy="5635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n-US" kern="0" dirty="0">
                <a:solidFill>
                  <a:sysClr val="windowText" lastClr="000000"/>
                </a:solidFill>
              </a:rPr>
              <a:t>Google Services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914399"/>
            <a:ext cx="12039600" cy="5740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2000" b="1" dirty="0" smtClean="0">
                <a:solidFill>
                  <a:srgbClr val="FF0000"/>
                </a:solidFill>
                <a:latin typeface="Verdana"/>
              </a:rPr>
              <a:t>Google Maps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is a Google satellite, which gives an in-depth accurate map of almost every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city in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the world. Google maps gives directions from how to get from one point to the other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, figures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out the quickest route possible, and gives an Earth/Satellite/Street view. Maps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is available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on browsers as well as mobile phones, allowing custom maps as well as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saved directions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to be saved on Google Accounts and later be accessed from all devices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. The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map itself is downloaded from the cloud server when the user browses it. If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user would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like to know the route to some destination, the cloud server calculates the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best route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and sends it to users’ devices.</a:t>
            </a: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2000" b="1" dirty="0" smtClean="0">
                <a:solidFill>
                  <a:srgbClr val="FF0000"/>
                </a:solidFill>
                <a:latin typeface="Verdana"/>
              </a:rPr>
              <a:t>Google </a:t>
            </a:r>
            <a:r>
              <a:rPr lang="en-GB" altLang="en-US" sz="2000" b="1" dirty="0">
                <a:solidFill>
                  <a:srgbClr val="FF0000"/>
                </a:solidFill>
                <a:latin typeface="Verdana"/>
              </a:rPr>
              <a:t>Translate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 is an online translating tool, which translates text from one language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to the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other instantly for a user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. The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phone does not store all the language mappings. Words or statements are sent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to the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cloud server to be calculated to the target language, in which processes, the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machine learning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and natural language processing techniques, are used to enhance the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translation accuracy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, which cannot be achieved using the limited resources on smartphones.</a:t>
            </a:r>
          </a:p>
          <a:p>
            <a:pPr>
              <a:lnSpc>
                <a:spcPct val="90000"/>
              </a:lnSpc>
              <a:buClr>
                <a:srgbClr val="9BBB59"/>
              </a:buClr>
              <a:buSzPct val="90000"/>
            </a:pPr>
            <a:r>
              <a:rPr lang="en-GB" altLang="en-US" sz="2000" b="1" dirty="0" smtClean="0">
                <a:solidFill>
                  <a:srgbClr val="FF0000"/>
                </a:solidFill>
                <a:latin typeface="Verdana"/>
              </a:rPr>
              <a:t>Google </a:t>
            </a:r>
            <a:r>
              <a:rPr lang="en-GB" altLang="en-US" sz="2000" b="1" dirty="0">
                <a:solidFill>
                  <a:srgbClr val="FF0000"/>
                </a:solidFill>
                <a:latin typeface="Verdana"/>
              </a:rPr>
              <a:t>Docs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 are online applications, which allow people to create, edit, or view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different types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of documents. In addition to word documents, Google Docs also support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Power-Point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slides and Excel spreadsheets. Google Docs can be synchronized across all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devices through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 user’s Google account. This allows the user to access his/her documents on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any device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as long as he/she can access Google Docs’ server using a browser, and edit 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and share </a:t>
            </a:r>
            <a:r>
              <a:rPr lang="en-GB" altLang="en-US" sz="2000" dirty="0">
                <a:solidFill>
                  <a:srgbClr val="1C4372"/>
                </a:solidFill>
                <a:latin typeface="Verdana"/>
              </a:rPr>
              <a:t>them without time and location restrictions</a:t>
            </a:r>
            <a:r>
              <a:rPr lang="en-GB" altLang="en-US" sz="2000" dirty="0" smtClean="0">
                <a:solidFill>
                  <a:srgbClr val="1C4372"/>
                </a:solidFill>
                <a:latin typeface="Verdana"/>
              </a:rPr>
              <a:t>.</a:t>
            </a:r>
            <a:endParaRPr lang="en-GB" altLang="en-US" sz="2000" dirty="0">
              <a:solidFill>
                <a:srgbClr val="1C4372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5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Dropbox, cloud storage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Dropbox is a popular cloud-based storage service which supports mobile devices.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can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help users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store photos, docs, videos, and other files in clouds.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Files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in Dropbox are tracked with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 version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control system, each version is backed up, and users can access them using their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mobile devices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provides an easy approach to share a large file by sharing their Dropbox’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URL even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if a user does not have a Dropbox account.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Drobox client is required to be installed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on mobile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devices in order to manage files in the cloud.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Compared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to the desktop Dropbox client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, the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mobile version only downloads the files to mobile devices as the user instructs it to do so.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When some files are added, deleted, or updated, new versions of files are synchronized to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cloud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storage and all devices having the same Drobox account will perform an update.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In this way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, the new version is pushed to every device controlled by the same user and his/her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file sharing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peers.</a:t>
            </a:r>
            <a:endParaRPr kumimoji="0" lang="en-GB" altLang="en-US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Dropbox, cloud </a:t>
            </a:r>
            <a:r>
              <a:rPr lang="en-US" dirty="0" smtClean="0"/>
              <a:t>storage (1)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The Dropbox API v23 is a set of HTTP endpoints that help your app integrate with Dropbox.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The officially supported SDKs, which are programming language wrappers of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HTTP API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, include .NET, Java, JavaScript, Python, Swift, and Object-C.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Dropbox HTTP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API allows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developers to work with files in Dropbox, including advanced functionality like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full text search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, thumbnails, and sharing.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Dropbox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also provides Business API that allows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apps to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manage the user lifecycle for a Dropbox Business account and perform API actions on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all members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of a team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.</a:t>
            </a:r>
            <a:endParaRPr kumimoji="0" lang="en-GB" altLang="en-US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Office365, cloud based collaboration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434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Microsoft Office365 is made for company employees to work together, sharing similar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features with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Drobox and Google Docs. </a:t>
            </a:r>
            <a:endParaRPr lang="en-GB" altLang="en-US" sz="2800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Users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can share docs with their working partners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right from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a phone and tablet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.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Mobile version Office365 along with Microsoft Azure provides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: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Easily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sharing documents with the cloud-connected applications;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Tracking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changes, comment and mark-up docs so that everyone knows documents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’ change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history;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Sharing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documents with others by simply e-mailing an URL.</a:t>
            </a:r>
            <a:endParaRPr kumimoji="0" lang="en-GB" altLang="en-US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GB" dirty="0"/>
              <a:t>Yelp, cloud based virtual augment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Yelp application has a feature called Monocle, which is an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application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of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cloud-based virtual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augmentation.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When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the user points the phone camera to one direction, the shops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and restaurants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are displayed as an additional layer in front of the background photo.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Monocle application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captures the location and direction, fetches the data from the cloud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, and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organizes shop information on the photo, such as the notes to the real environment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.</a:t>
            </a:r>
            <a:endParaRPr kumimoji="0" lang="en-GB" altLang="en-US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GB" dirty="0"/>
              <a:t>Internet of things, cloud mirroring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The Internet of Things (</a:t>
            </a:r>
            <a:r>
              <a:rPr lang="en-GB" altLang="en-US" sz="2600" dirty="0" err="1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) is the network of physical objects—devices, vehicles, buildings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, and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other items which are embedded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with electronics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, software, sensors, and network connectivity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, which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enables these objects collect and exchange data. </a:t>
            </a:r>
            <a:endParaRPr lang="en-GB" altLang="en-US" sz="2600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The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Internet of Things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allows objects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to be sensed and controlled remotely across existing network infrastructure,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creating opportunities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for more direct integration of the physical world into computer-based systems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, and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resulting in improved efficiency, accuracy, and economic benefit; when </a:t>
            </a:r>
            <a:r>
              <a:rPr lang="en-GB" altLang="en-US" sz="2600" dirty="0" err="1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 is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augmented with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sensors and actuators, the technology becomes an instance of the more general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class of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cyber-physical systems, which also encompasses technologies such as smart grids,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smart homes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, intelligent transportation, and smart cities. </a:t>
            </a:r>
            <a:endParaRPr lang="en-GB" altLang="en-US" sz="2600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Experts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estimate that the </a:t>
            </a:r>
            <a:r>
              <a:rPr lang="en-GB" altLang="en-US" sz="2600" dirty="0" err="1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 will consist of almost 50 billion objects by 2020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.</a:t>
            </a:r>
            <a:endParaRPr kumimoji="0" lang="en-GB" altLang="en-US" sz="2600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GB" dirty="0"/>
              <a:t>Internet of things, cloud </a:t>
            </a:r>
            <a:r>
              <a:rPr lang="en-GB" dirty="0" smtClean="0"/>
              <a:t>mirroring (1)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However, due to the large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amount of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objects, small systems cannot handle huge data collected through </a:t>
            </a:r>
            <a:r>
              <a:rPr lang="en-GB" altLang="en-US" sz="2800" dirty="0" err="1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 devices. </a:t>
            </a:r>
            <a:endParaRPr lang="en-GB" altLang="en-US" sz="2800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To address this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issue, cloud-based storage services come into the picture. </a:t>
            </a:r>
            <a:endParaRPr lang="en-GB" altLang="en-US" sz="2800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 err="1" smtClean="0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objects can be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continuously mirrored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by using cloud-based monitoring and storage services; while individual or group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of </a:t>
            </a:r>
            <a:r>
              <a:rPr lang="en-GB" altLang="en-US" sz="2800" dirty="0" err="1" smtClean="0">
                <a:solidFill>
                  <a:srgbClr val="1C4372"/>
                </a:solidFill>
                <a:latin typeface="Verdana"/>
              </a:rPr>
              <a:t>IoT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device(s) can be virtualized and manipulated in the cloud for MCC applications, and 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then control </a:t>
            </a: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or data operation functions can be executed on physical devices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.</a:t>
            </a:r>
            <a:endParaRPr kumimoji="0" lang="en-GB" altLang="en-US" sz="2800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9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"/>
            <a:ext cx="11430000" cy="563563"/>
          </a:xfrm>
        </p:spPr>
        <p:txBody>
          <a:bodyPr/>
          <a:lstStyle/>
          <a:p>
            <a:r>
              <a:rPr lang="en-GB" sz="3200" dirty="0"/>
              <a:t>Mobile Cloud Offloading, Composition and Migration</a:t>
            </a:r>
            <a:endParaRPr lang="en-US" sz="32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89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In a mobile cloud, mobile nodes are usually restricted by their energy supply.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Many mobile cloud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computing solutions have been recently proposed to describe how to offload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applications from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mobile devices to surrogates, which usually have high computation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capabilities with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constant power supplies.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One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mobile cloud application scenario is when a mobile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device offloads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one or multiple applications to an Internet cloud.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Another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scenario is when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Internet cloud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not available, and thus a mobile device can offload its applications to other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mobile devices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to share the computation overhead.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this scenario, each mobile node in a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mobile cloud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can be considered a surrogate. </a:t>
            </a:r>
            <a:endParaRPr kumimoji="0" lang="en-GB" altLang="en-US" i="0" u="none" strike="noStrike" kern="1200" cap="none" spc="0" normalizeH="0" baseline="0" noProof="0" dirty="0">
              <a:ln>
                <a:noFill/>
              </a:ln>
              <a:solidFill>
                <a:srgbClr val="1C4372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"/>
            <a:ext cx="11430000" cy="563563"/>
          </a:xfrm>
        </p:spPr>
        <p:txBody>
          <a:bodyPr/>
          <a:lstStyle/>
          <a:p>
            <a:r>
              <a:rPr lang="en-GB" sz="3200" dirty="0"/>
              <a:t>Mobile Cloud Offloading, Composition and Migration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0FA4389-8760-4752-941B-10A5DE592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113" y="1143000"/>
            <a:ext cx="8955773" cy="3771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A78484-583B-4D27-BF29-98B1C0A06944}"/>
              </a:ext>
            </a:extLst>
          </p:cNvPr>
          <p:cNvSpPr txBox="1"/>
          <p:nvPr/>
        </p:nvSpPr>
        <p:spPr>
          <a:xfrm>
            <a:off x="2316470" y="5791932"/>
            <a:ext cx="7559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Mobile cloud terminologies: (A) Offloading, (B) Composition, and (C) Migration</a:t>
            </a:r>
          </a:p>
        </p:txBody>
      </p:sp>
    </p:spTree>
    <p:extLst>
      <p:ext uri="{BB962C8B-B14F-4D97-AF65-F5344CB8AC3E}">
        <p14:creationId xmlns:p14="http://schemas.microsoft.com/office/powerpoint/2010/main" val="118528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" y="1"/>
            <a:ext cx="12039600" cy="563563"/>
          </a:xfrm>
        </p:spPr>
        <p:txBody>
          <a:bodyPr/>
          <a:lstStyle/>
          <a:p>
            <a:r>
              <a:rPr lang="en-GB" sz="3200" dirty="0"/>
              <a:t>Mobile Cloud Application Partition and Offloading Decision</a:t>
            </a:r>
            <a:endParaRPr lang="en-US" sz="32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541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Three aspects are generally taken into consideration to model the application partition problem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: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b="1" dirty="0" smtClean="0">
                <a:solidFill>
                  <a:srgbClr val="FF0000"/>
                </a:solidFill>
                <a:latin typeface="Verdana"/>
              </a:rPr>
              <a:t>Device </a:t>
            </a:r>
            <a:r>
              <a:rPr lang="en-GB" altLang="en-US" sz="2600" b="1" dirty="0">
                <a:solidFill>
                  <a:srgbClr val="FF0000"/>
                </a:solidFill>
                <a:latin typeface="Verdana"/>
              </a:rPr>
              <a:t>profiles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. The cloud virtual machine computation power is usually several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times better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than that of the mobile devices, which contributes to execution time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modelling. The energy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consumption of the CPU and Radio modules on the phone are generally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categorized as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active and standby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parts.</a:t>
            </a:r>
            <a:endParaRPr lang="en-GB" altLang="en-US" sz="2600" dirty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b="1" dirty="0" smtClean="0">
                <a:solidFill>
                  <a:srgbClr val="FF0000"/>
                </a:solidFill>
                <a:latin typeface="Verdana"/>
              </a:rPr>
              <a:t>Application </a:t>
            </a:r>
            <a:r>
              <a:rPr lang="en-GB" altLang="en-US" sz="2600" b="1" dirty="0">
                <a:solidFill>
                  <a:srgbClr val="FF0000"/>
                </a:solidFill>
                <a:latin typeface="Verdana"/>
              </a:rPr>
              <a:t>profile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. Mobile applications are usually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modelled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as a directed acyclic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graph (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DAG), where the vertices are the application modules and the edges are module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dependencies or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data flow.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600" b="1" dirty="0" smtClean="0">
                <a:solidFill>
                  <a:srgbClr val="FF0000"/>
                </a:solidFill>
                <a:latin typeface="Verdana"/>
              </a:rPr>
              <a:t>Environment </a:t>
            </a:r>
            <a:r>
              <a:rPr lang="en-GB" altLang="en-US" sz="2600" b="1" dirty="0">
                <a:solidFill>
                  <a:srgbClr val="FF0000"/>
                </a:solidFill>
                <a:latin typeface="Verdana"/>
              </a:rPr>
              <a:t>profile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. The connection between mobile devices and clouds plays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pivotal role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in the partition strategy. Especially the wireless connection such as </a:t>
            </a:r>
            <a:r>
              <a:rPr lang="en-GB" altLang="en-US" sz="2600" dirty="0" err="1">
                <a:solidFill>
                  <a:srgbClr val="1C4372"/>
                </a:solidFill>
                <a:latin typeface="Verdana"/>
              </a:rPr>
              <a:t>WiFi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 or 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cellular connection </a:t>
            </a:r>
            <a:r>
              <a:rPr lang="en-GB" altLang="en-US" sz="2600" dirty="0">
                <a:solidFill>
                  <a:srgbClr val="1C4372"/>
                </a:solidFill>
                <a:latin typeface="Verdana"/>
              </a:rPr>
              <a:t>is not always stable</a:t>
            </a:r>
            <a:r>
              <a:rPr lang="en-GB" altLang="en-US" sz="2600" dirty="0" smtClean="0">
                <a:solidFill>
                  <a:srgbClr val="1C4372"/>
                </a:solidFill>
                <a:latin typeface="Verdana"/>
              </a:rPr>
              <a:t>.</a:t>
            </a:r>
            <a:endParaRPr lang="en-GB" altLang="en-US" sz="2600" dirty="0">
              <a:solidFill>
                <a:srgbClr val="1C4372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3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Mobile Cloud Offloading Framework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32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sz="2800" dirty="0">
                <a:solidFill>
                  <a:srgbClr val="1C4372"/>
                </a:solidFill>
                <a:latin typeface="Verdana"/>
              </a:rPr>
              <a:t>Recent mobile cloud infrastructure and framework</a:t>
            </a:r>
            <a:r>
              <a:rPr lang="en-GB" altLang="en-US" sz="2800" dirty="0" smtClean="0">
                <a:solidFill>
                  <a:srgbClr val="1C4372"/>
                </a:solidFill>
                <a:latin typeface="Verdana"/>
              </a:rPr>
              <a:t>: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CloneCloud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err="1">
                <a:solidFill>
                  <a:srgbClr val="1C4372"/>
                </a:solidFill>
                <a:latin typeface="Verdana"/>
              </a:rPr>
              <a:t>ThinkAir</a:t>
            </a:r>
            <a:endParaRPr lang="en-GB" altLang="en-US" dirty="0">
              <a:solidFill>
                <a:srgbClr val="1C4372"/>
              </a:solidFill>
              <a:latin typeface="Verdana"/>
            </a:endParaRP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MAUI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Cuckoo</a:t>
            </a: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err="1">
                <a:solidFill>
                  <a:srgbClr val="1C4372"/>
                </a:solidFill>
                <a:latin typeface="Verdana"/>
              </a:rPr>
              <a:t>Weblet</a:t>
            </a:r>
            <a:endParaRPr lang="en-GB" altLang="en-US" dirty="0">
              <a:solidFill>
                <a:srgbClr val="1C4372"/>
              </a:solidFill>
              <a:latin typeface="Verdana"/>
            </a:endParaRPr>
          </a:p>
          <a:p>
            <a:pPr marL="685800" lvl="0">
              <a:lnSpc>
                <a:spcPct val="90000"/>
              </a:lnSpc>
              <a:buClr>
                <a:srgbClr val="9BBB59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Cloudlet</a:t>
            </a:r>
            <a:endParaRPr lang="en-GB" altLang="en-US" dirty="0">
              <a:solidFill>
                <a:srgbClr val="1C4372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7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/>
              <a:t>CloneCloud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269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Clone Cloud is a proposed technique for Energy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Saving in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Mobile Cloud Computing.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a system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that automatically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transforms mobile applications or part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of them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to be executed in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cloud.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Each mobile device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associated to a clone cloud which extends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mobile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device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capabilities.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52400" y="2984702"/>
            <a:ext cx="7924800" cy="379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This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done by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an application’s practitioner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that partitions an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application-level executing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on a virtual machine, and execution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runtime controller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that seamlessly off-load some of these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partitions execution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from the mobile device onto a mobile clone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in the cloud.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Clone Cloud overcomes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limited computation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power, memory, and energy of mobile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devices.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 result, a single-machine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execution application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transformed into a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distributed-execution application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as shown in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Figure.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7200" y="5197006"/>
            <a:ext cx="425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CloneCloud system model. CloneCloud transforms a </a:t>
            </a:r>
            <a:r>
              <a:rPr lang="en-GB" dirty="0" smtClean="0"/>
              <a:t>single machine execution </a:t>
            </a:r>
            <a:r>
              <a:rPr lang="en-GB" dirty="0"/>
              <a:t>(mobile device computation) into a </a:t>
            </a:r>
            <a:r>
              <a:rPr lang="en-GB" dirty="0" smtClean="0"/>
              <a:t>distributed execution </a:t>
            </a:r>
            <a:r>
              <a:rPr lang="en-GB" dirty="0"/>
              <a:t>(mobile device and cloud computation) </a:t>
            </a:r>
            <a:r>
              <a:rPr lang="en-GB" dirty="0" smtClean="0"/>
              <a:t>automatically.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344" y="2895600"/>
            <a:ext cx="4061656" cy="219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563563"/>
          </a:xfrm>
        </p:spPr>
        <p:txBody>
          <a:bodyPr/>
          <a:lstStyle/>
          <a:p>
            <a:r>
              <a:rPr lang="en-US" dirty="0" smtClean="0"/>
              <a:t>CloneCloud (1)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2400" y="761999"/>
            <a:ext cx="11887200" cy="3551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>
                <a:solidFill>
                  <a:srgbClr val="1C4372"/>
                </a:solidFill>
                <a:latin typeface="Verdana"/>
              </a:rPr>
              <a:t>The rationale behind the Clone Cloud model is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stating that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as long as the execution power is better, faster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, cheaper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, and secure on the cloud than on the mobile device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, it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worth transforming the expensive parts to be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executed in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cloud.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design goal is to let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Clone Cloud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decides on which and where; which portion of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code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is better to be executed on the mobile device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verses Clone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Cloud, without modifying the application code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or forcing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a programmer to change the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application implementation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, and without having the end user to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worry about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how the execution distribution is done. 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120618" y="6193276"/>
            <a:ext cx="3843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CloneCloud prototype architecture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094" y="4071490"/>
            <a:ext cx="4271971" cy="2072211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52400" y="4209639"/>
            <a:ext cx="6763694" cy="179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The architecture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of the Clone Cloud is provided in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Figure. </a:t>
            </a:r>
          </a:p>
          <a:p>
            <a:pPr lvl="0">
              <a:lnSpc>
                <a:spcPct val="90000"/>
              </a:lnSpc>
              <a:buClr>
                <a:srgbClr val="9BBB59"/>
              </a:buClr>
              <a:buSzPct val="90000"/>
              <a:defRPr/>
            </a:pP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It consists 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of a mobile device and a clone virtual </a:t>
            </a:r>
            <a:r>
              <a:rPr lang="en-GB" altLang="en-US" dirty="0" smtClean="0">
                <a:solidFill>
                  <a:srgbClr val="1C4372"/>
                </a:solidFill>
                <a:latin typeface="Verdana"/>
              </a:rPr>
              <a:t>machine (</a:t>
            </a:r>
            <a:r>
              <a:rPr lang="en-GB" altLang="en-US" dirty="0">
                <a:solidFill>
                  <a:srgbClr val="1C4372"/>
                </a:solidFill>
                <a:latin typeface="Verdana"/>
              </a:rPr>
              <a:t>VM) on the cloud.</a:t>
            </a:r>
            <a:endParaRPr lang="en-GB" altLang="en-US" dirty="0" smtClean="0">
              <a:solidFill>
                <a:srgbClr val="1C4372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3245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12957</TotalTime>
  <Words>2989</Words>
  <Application>Microsoft Office PowerPoint</Application>
  <PresentationFormat>Widescreen</PresentationFormat>
  <Paragraphs>186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MS PGothic</vt:lpstr>
      <vt:lpstr>Arial</vt:lpstr>
      <vt:lpstr>Calibri</vt:lpstr>
      <vt:lpstr>LegacySans-Bold</vt:lpstr>
      <vt:lpstr>Times New Roman</vt:lpstr>
      <vt:lpstr>Times-Roman</vt:lpstr>
      <vt:lpstr>Verdana</vt:lpstr>
      <vt:lpstr>Wingdings</vt:lpstr>
      <vt:lpstr>Office Theme</vt:lpstr>
      <vt:lpstr>ITT632 MOBILE CLOUD COMPUTING</vt:lpstr>
      <vt:lpstr>Mobile Cloud Computing Taxonomy</vt:lpstr>
      <vt:lpstr>PowerPoint Presentation</vt:lpstr>
      <vt:lpstr>PowerPoint Presentation</vt:lpstr>
      <vt:lpstr>PowerPoint Presentation</vt:lpstr>
      <vt:lpstr>essential characteristics Of CC</vt:lpstr>
      <vt:lpstr>CC Service models</vt:lpstr>
      <vt:lpstr>CC Service models (1)</vt:lpstr>
      <vt:lpstr>CC deployment models</vt:lpstr>
      <vt:lpstr>PowerPoint Presentation</vt:lpstr>
      <vt:lpstr>essential characteristics Of MC</vt:lpstr>
      <vt:lpstr>PowerPoint Presentation</vt:lpstr>
      <vt:lpstr>PowerPoint Presentation</vt:lpstr>
      <vt:lpstr>Mobile Platforms</vt:lpstr>
      <vt:lpstr>Cloud-based Mobile Service Platforms</vt:lpstr>
      <vt:lpstr>PowerPoint Presentation</vt:lpstr>
      <vt:lpstr>Dropbox, cloud storage</vt:lpstr>
      <vt:lpstr>Dropbox, cloud storage (1)</vt:lpstr>
      <vt:lpstr>Office365, cloud based collaboration</vt:lpstr>
      <vt:lpstr>Yelp, cloud based virtual augment</vt:lpstr>
      <vt:lpstr>Internet of things, cloud mirroring</vt:lpstr>
      <vt:lpstr>Internet of things, cloud mirroring (1)</vt:lpstr>
      <vt:lpstr>Mobile Cloud Offloading, Composition and Migration</vt:lpstr>
      <vt:lpstr>Mobile Cloud Offloading, Composition and Migration</vt:lpstr>
      <vt:lpstr>Mobile Cloud Application Partition and Offloading Decision</vt:lpstr>
      <vt:lpstr>Mobile Cloud Offloading Framework</vt:lpstr>
      <vt:lpstr>CloneCloud</vt:lpstr>
      <vt:lpstr>CloneCloud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Certified  Design Expert  CCDE</dc:title>
  <dc:creator>Mohammed Ahmed Quadri</dc:creator>
  <cp:lastModifiedBy>USER</cp:lastModifiedBy>
  <cp:revision>222</cp:revision>
  <cp:lastPrinted>2021-10-16T05:41:51Z</cp:lastPrinted>
  <dcterms:created xsi:type="dcterms:W3CDTF">2021-10-06T00:48:00Z</dcterms:created>
  <dcterms:modified xsi:type="dcterms:W3CDTF">2023-06-05T04:00:10Z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2009-02-16T00:00:00Z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2021-10-06T00:00:00Z</vt:filetime>
  </property>
</Properties>
</file>